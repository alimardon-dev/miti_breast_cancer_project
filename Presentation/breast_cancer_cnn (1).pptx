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4572000" cy="4572000"/>
          </a:xfrm>
          <a:prstGeom prst="ellipse">
            <a:avLst/>
          </a:prstGeom>
          <a:solidFill>
            <a:srgbClr val="1B7CC4">
              <a:alpha val="20000"/>
            </a:srgbClr>
          </a:solidFill>
          <a:ln w="12700">
            <a:solidFill>
              <a:srgbClr val="1B7CC4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8A9A0">
              <a:alpha val="20000"/>
            </a:srgbClr>
          </a:solidFill>
          <a:ln w="12700">
            <a:solidFill>
              <a:srgbClr val="28A9A0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822960"/>
            <a:ext cx="2194560" cy="292608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DEEP LEARNING · MEDICAL IMAGING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Classification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Convolutional Neural Networks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200400" cy="0"/>
          </a:xfrm>
          <a:prstGeom prst="line">
            <a:avLst/>
          </a:prstGeom>
          <a:noFill/>
          <a:ln w="25400">
            <a:solidFill>
              <a:srgbClr val="1B7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CBIS-DDSM Dataset  ·  CC &amp; MLO Views  ·  ResNet18 Backbone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56032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B7CC4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Models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3383280"/>
            <a:ext cx="256032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B7CC4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29184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2560320" cy="118872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1B7CC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42900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126480" y="3977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INTRODUCTION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&amp; AI-Assisted Diagnosis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201168" cy="201168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Breast cancer is one of the most common cancers worldwide, requiring accurate and early diagnosis.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84248"/>
            <a:ext cx="201168" cy="201168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3852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Mammography is the primary imaging modality for breast cancer screening.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642616"/>
            <a:ext cx="201168" cy="201168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9689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interpretation is time-consuming and subject to inter-observer variability.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00984"/>
            <a:ext cx="201168" cy="201168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5526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CNN models can learn discriminative features directly from raw images.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959352"/>
            <a:ext cx="201168" cy="201168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913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explores CNN-based classification using CC and MLO mammogram views from CBIS-DDSM.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1234440"/>
            <a:ext cx="292608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A9A0"/>
                </a:solidFill>
              </a:rPr>
              <a:t>Key Motivation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0" y="19202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Early Detection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14884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9A0"/>
                </a:solidFill>
              </a:rPr>
              <a:t>Saves lives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2487168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Reduce Errors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0" y="2715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9A0"/>
                </a:solidFill>
              </a:rPr>
              <a:t>AI consistency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0" y="305409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Dual Views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2826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9A0"/>
                </a:solidFill>
              </a:rPr>
              <a:t>CC + MLO richer info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0" y="3621024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Scalable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38496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8A9A0"/>
                </a:solidFill>
              </a:rPr>
              <a:t>High throughput screening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 STATEMENT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457200" cy="1600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Binary 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8745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Classify mammogram masses as Benign or Malignant using ResNet18-based CNN.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325880"/>
            <a:ext cx="457200" cy="1600200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32588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15087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View Comparison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8745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Compare performance across single-view (CC, MLO) and dual-view models.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54680"/>
            <a:ext cx="457200" cy="1600200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33375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Augmentation Impact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Analyze how data augmentation affects overfitting, bias, and generalization.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54680"/>
            <a:ext cx="41148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54680"/>
            <a:ext cx="457200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154680"/>
            <a:ext cx="457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303520" y="333756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</a:rPr>
              <a:t>Multi-View Learning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37033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6A8A"/>
                </a:solidFill>
              </a:rPr>
              <a:t>Demonstrate that combining CC + MLO views captures richer diagnostic features.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DATASET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CBIS-DDSM Dataset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28016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2801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CBIS-DDSM (Curated Breast Imaging Subset)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56232"/>
            <a:ext cx="2103120" cy="457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5623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Image Type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8880" y="1856232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8562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Mammography (DICOM format)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32304"/>
            <a:ext cx="2103120" cy="457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4323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432304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24323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Benign / Malignant masses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08376"/>
            <a:ext cx="2103120" cy="457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0837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Views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68880" y="3008376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14600" y="300837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CC (Cranio-Caudal) &amp; MLO (Medio-Lateral Oblique)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84448"/>
            <a:ext cx="2103120" cy="457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5844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468880" y="3584448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35844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Train 70% · Validation 15% · Test 15%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2103120" cy="45720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60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Split Strategy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468880" y="4160520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Patient-wise (no data leakage)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1234440"/>
            <a:ext cx="2834640" cy="35661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35040" y="13716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Patient-Wise Split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26480" y="1920240"/>
            <a:ext cx="502920" cy="50292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70%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720840" y="1965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Training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26480" y="2743200"/>
            <a:ext cx="502920" cy="502920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20840" y="2788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26480" y="3566160"/>
            <a:ext cx="502920" cy="502920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20840" y="36118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Test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035040" y="4434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8A9A0"/>
                </a:solidFill>
              </a:rPr>
              <a:t>⚠ Patient-wise split prevents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28A9A0"/>
                </a:solidFill>
              </a:rPr>
              <a:t>data leakage across sets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PREPROCESSING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55648" y="1920240"/>
            <a:ext cx="237744" cy="73152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914400" cy="914400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DICOM → PNG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834640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8328" y="2880360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</a:rPr>
              <a:t>Convert raw DICOM mammogram files to PNG format for CNN compatibility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920240"/>
            <a:ext cx="237744" cy="73152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7712" y="1325880"/>
            <a:ext cx="914400" cy="914400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267712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993392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Tumor Crop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93392" y="2834640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57400" y="2880360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</a:rPr>
              <a:t>Use bounding box annotations to crop tumor-focused regions from full mammograms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93792" y="1920240"/>
            <a:ext cx="237744" cy="73152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986784" y="1325880"/>
            <a:ext cx="914400" cy="914400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986784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712464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Resize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12464" y="2834640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776472" y="2880360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</a:rPr>
              <a:t>Resize cropped images to uniform dimensions for model input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912864" y="1920240"/>
            <a:ext cx="237744" cy="73152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05856" y="1325880"/>
            <a:ext cx="914400" cy="914400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05856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31536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Normalization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31536" y="2834640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495544" y="2880360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</a:rPr>
              <a:t>Normalize pixel values using ImageNet statistics (mean/std)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24928" y="1325880"/>
            <a:ext cx="914400" cy="914400"/>
          </a:xfrm>
          <a:prstGeom prst="ellipse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424928" y="1325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50608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Class Weights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50608" y="2834640"/>
            <a:ext cx="14630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214616" y="2880360"/>
            <a:ext cx="133502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6A8A"/>
                </a:solidFill>
              </a:rPr>
              <a:t>Apply class weights (Benign=1.0, Malignant=2.0) to handle class imbalance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28A9A0">
              <a:alpha val="15000"/>
            </a:srgbClr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🔄  Data Augmentation (when enabled): Random horizontal flip · Random rotation · Color jitter · Random erasing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DATASET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Dataset Configurations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CC Only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Cranio-Caudal (top-down) 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Single-view classification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51760"/>
            <a:ext cx="2377440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A8A"/>
                </a:solidFill>
              </a:rPr>
              <a:t>Test Set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7CC4"/>
                </a:solidFill>
              </a:rPr>
              <a:t>87 test samples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Benign: 40  ·  Malignant: 47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68680" y="3840480"/>
            <a:ext cx="1737360" cy="731520"/>
          </a:xfrm>
          <a:prstGeom prst="ellipse">
            <a:avLst/>
          </a:prstGeom>
          <a:solidFill>
            <a:srgbClr val="1B7CC4">
              <a:alpha val="20000"/>
            </a:srgbClr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CC 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4612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MLO Only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3756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Medio-Lateral Oblique (angled) 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Single-view classification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2651760"/>
            <a:ext cx="2377440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A8A"/>
                </a:solidFill>
              </a:rPr>
              <a:t>Test Set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3756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8A9A0"/>
                </a:solidFill>
              </a:rPr>
              <a:t>101 test samples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3756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Benign: 45  ·  Malignant: 56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49040" y="3840480"/>
            <a:ext cx="1737360" cy="731520"/>
          </a:xfrm>
          <a:prstGeom prst="ellipse">
            <a:avLst/>
          </a:prstGeom>
          <a:solidFill>
            <a:srgbClr val="28A9A0">
              <a:alpha val="20000"/>
            </a:srgbClr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MLO 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126480" y="1234440"/>
            <a:ext cx="274320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2344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Dual CC+MLO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17920" y="18745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Both views combined per patient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A1628"/>
                </a:solidFill>
              </a:rPr>
              <a:t>Dual-input model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0" y="2651760"/>
            <a:ext cx="2377440" cy="0"/>
          </a:xfrm>
          <a:prstGeom prst="line">
            <a:avLst/>
          </a:prstGeom>
          <a:noFill/>
          <a:ln w="12700">
            <a:solidFill>
              <a:srgbClr val="DD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6A8A"/>
                </a:solidFill>
              </a:rPr>
              <a:t>Test Set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17920" y="30175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6C2A"/>
                </a:solidFill>
              </a:rPr>
              <a:t>70 test samples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217920" y="3429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Benign: 37  ·  Malignant: 33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629400" y="3840480"/>
            <a:ext cx="1737360" cy="731520"/>
          </a:xfrm>
          <a:prstGeom prst="ellipse">
            <a:avLst/>
          </a:prstGeom>
          <a:solidFill>
            <a:srgbClr val="E86C2A">
              <a:alpha val="20000"/>
            </a:srgbClr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9400" y="38404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CC + MLO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Architecture: ResNet18 Backbone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1371600"/>
            <a:ext cx="914400" cy="1097280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71600"/>
            <a:ext cx="914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Image(s)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43000" y="1874520"/>
            <a:ext cx="201168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4168" y="1371600"/>
            <a:ext cx="1097280" cy="10972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44168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Conv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1-2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41448" y="1874520"/>
            <a:ext cx="201168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371600"/>
            <a:ext cx="1097280" cy="1097280"/>
          </a:xfrm>
          <a:prstGeom prst="rect">
            <a:avLst/>
          </a:prstGeom>
          <a:solidFill>
            <a:srgbClr val="5B6FA6"/>
          </a:solidFill>
          <a:ln w="12700">
            <a:solidFill>
              <a:srgbClr val="5B6F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42616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3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(frozen)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39896" y="1874520"/>
            <a:ext cx="201168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41064" y="1371600"/>
            <a:ext cx="1097280" cy="10972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941064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Layer 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(trainable)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38344" y="1874520"/>
            <a:ext cx="201168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39512" y="1371600"/>
            <a:ext cx="1097280" cy="1097280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39512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Global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AvgPool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336792" y="1874520"/>
            <a:ext cx="201168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1371600"/>
            <a:ext cx="1097280" cy="1097280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FC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Classifier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35240" y="1874520"/>
            <a:ext cx="201168" cy="91440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36408" y="1371600"/>
            <a:ext cx="1005840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36408" y="1371600"/>
            <a:ext cx="1005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Benign 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Malignant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344168" y="2606040"/>
            <a:ext cx="3511296" cy="256032"/>
          </a:xfrm>
          <a:prstGeom prst="rect">
            <a:avLst/>
          </a:prstGeom>
          <a:solidFill>
            <a:srgbClr val="5B6FA6">
              <a:alpha val="20000"/>
            </a:srgbClr>
          </a:solidFill>
          <a:ln w="12700">
            <a:solidFill>
              <a:srgbClr val="5B6F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44168" y="2606040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A4A7A"/>
                </a:solidFill>
              </a:rPr>
              <a:t>← Pretrained on ImageNet (frozen early layers)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55464" y="2606040"/>
            <a:ext cx="2414016" cy="256032"/>
          </a:xfrm>
          <a:prstGeom prst="rect">
            <a:avLst/>
          </a:prstGeom>
          <a:solidFill>
            <a:srgbClr val="1B7CC4">
              <a:alpha val="20000"/>
            </a:srgbClr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55464" y="2606040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B7CC4"/>
                </a:solidFill>
              </a:rPr>
              <a:t>← Fine-tuned (trainable)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3063240"/>
            <a:ext cx="84124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4864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6C2A"/>
                </a:solidFill>
              </a:rPr>
              <a:t>Dual-Input Architecture: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4747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Two independent ResNet18 encoders (one for CC, one for MLO) → feature concatenation → shared FC classifier layer. This allows each view to learn complementary features before joint decision making.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4206240"/>
            <a:ext cx="15544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65760" y="4251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9A0"/>
                </a:solidFill>
              </a:rPr>
              <a:t>Optimizer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5760" y="4507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Adam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057400" y="4206240"/>
            <a:ext cx="15544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057400" y="4251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9A0"/>
                </a:solidFill>
              </a:rPr>
              <a:t>LR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057400" y="4507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1e-4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49040" y="4206240"/>
            <a:ext cx="15544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749040" y="4251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9A0"/>
                </a:solidFill>
              </a:rPr>
              <a:t>Epochs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749040" y="4507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440680" y="4206240"/>
            <a:ext cx="15544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5440680" y="4251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9A0"/>
                </a:solidFill>
              </a:rPr>
              <a:t>Loss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0680" y="4507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CrossEntropy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4206240"/>
            <a:ext cx="155448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132320" y="425196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8A9A0"/>
                </a:solidFill>
              </a:rPr>
              <a:t>Weights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32320" y="450799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B=1.0 M=2.0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TRAINING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Framework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77440" y="128016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28016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PyTorch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792224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9222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Backbone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377440" y="1792224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79222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ResNet18 (ImageNet pretrained)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04288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0428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Trainable Layers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377440" y="2304288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230428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layer3, layer4, FC classifier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16352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1635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Optimizer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77440" y="2816352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816352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Adam  ·  LR = 1e-4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328416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32841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Loss Function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377440" y="3328416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23160" y="3328416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CrossEntropyLoss with class weights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404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Epochs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0" y="3840480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23160" y="384048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30  ·  Best model saved by val accuracy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352544"/>
            <a:ext cx="2011680" cy="42062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3525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8A9A0"/>
                </a:solidFill>
              </a:rPr>
              <a:t>Batch Size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377440" y="4352544"/>
            <a:ext cx="32004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23160" y="4352544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16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852160" y="123444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52160" y="1234440"/>
            <a:ext cx="2926080" cy="411480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1234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Augmentation Techniques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989320" y="1810512"/>
            <a:ext cx="164592" cy="164592"/>
          </a:xfrm>
          <a:prstGeom prst="ellipse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6208" y="176479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RandomHorizontalFlip  (p=0.5)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989320" y="2304288"/>
            <a:ext cx="164592" cy="164592"/>
          </a:xfrm>
          <a:prstGeom prst="ellipse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36208" y="225856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RandomRotation  (±15°)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9320" y="2798064"/>
            <a:ext cx="164592" cy="164592"/>
          </a:xfrm>
          <a:prstGeom prst="ellipse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275234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ColorJitter  (brightness, contrast)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3291840"/>
            <a:ext cx="164592" cy="164592"/>
          </a:xfrm>
          <a:prstGeom prst="ellipse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36208" y="324612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RandomErasing  (p=0.2)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989320" y="3785616"/>
            <a:ext cx="164592" cy="164592"/>
          </a:xfrm>
          <a:prstGeom prst="ellipse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373989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Normalize (ImageNet stats)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B7CC4">
              <a:alpha val="12000"/>
            </a:srgbClr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A1628"/>
                </a:solidFill>
              </a:rPr>
              <a:t>All models trained with identical hyperparameters — only augmentation and input view configuration differ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View Model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920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1920240" cy="54864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737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73.9%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80822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02905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Aug (best)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31720" y="1280160"/>
            <a:ext cx="1920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1280160"/>
            <a:ext cx="192024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1371600"/>
            <a:ext cx="1737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04872" y="180822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04872" y="202905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Aug · 87 samples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89120" y="1280160"/>
            <a:ext cx="192024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1280160"/>
            <a:ext cx="192024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371600"/>
            <a:ext cx="1737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75.9%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462272" y="1808226"/>
            <a:ext cx="17739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62272" y="2029054"/>
            <a:ext cx="17739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Aug · 87 samples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46520" y="1280160"/>
            <a:ext cx="233172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280160"/>
            <a:ext cx="233172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37960" y="1371600"/>
            <a:ext cx="214884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519672" y="1808226"/>
            <a:ext cx="21854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Issue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519672" y="2029054"/>
            <a:ext cx="21854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Train≈100%  Val≈67–73%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6576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No Augmentation</a:t>
            </a:r>
            <a:endParaRPr lang="en-US" sz="11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651760"/>
            <a:ext cx="4114800" cy="2286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4663440" y="2377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With Augmentation — improved balance</a:t>
            </a:r>
            <a:endParaRPr lang="en-US" sz="11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651760"/>
            <a:ext cx="4114800" cy="228600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274320" y="50749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6A8A"/>
                </a:solidFill>
              </a:rPr>
              <a:t>CC No Aug: Strong benign recall (95%) but poor malignant recall (44.7%) — model biased toward benign predictions.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Model – Training Curves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34440"/>
            <a:ext cx="4297680" cy="28346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34440"/>
            <a:ext cx="4297680" cy="28346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160520"/>
            <a:ext cx="8595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⚠ Severe Overfitting Detected:  </a:t>
            </a:r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</a:rPr>
              <a:t>Training accuracy reaches ~99–100% by epoch 4, while validation accuracy plateaus at 67–74% and remains volatile throughout training. The growing gap between train loss (near 0) and validation loss (0.9–1.6) is a clear overfitting signature. Augmentation reduces this gap slightly.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 View Model Results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69.8%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783080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993392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Aug (best)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377440" y="128016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77440" y="1280160"/>
            <a:ext cx="196596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71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50592" y="1783080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 (No Aug)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50592" y="1993392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test samples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1280160"/>
            <a:ext cx="196596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280160"/>
            <a:ext cx="1965960" cy="54864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3716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67.3%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553712" y="1783080"/>
            <a:ext cx="1819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 (Aug)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53712" y="1993392"/>
            <a:ext cx="1819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recall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1280160"/>
            <a:ext cx="224028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0" y="1280160"/>
            <a:ext cx="224028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675120" y="13716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View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656832" y="1783080"/>
            <a:ext cx="20939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MLO Challenge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56832" y="1993392"/>
            <a:ext cx="20939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structured anatomy</a:t>
            </a:r>
            <a:endParaRPr lang="en-US" sz="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331720"/>
            <a:ext cx="4114800" cy="237744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331720"/>
            <a:ext cx="4297680" cy="237744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74320" y="480060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365760" y="482803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MLO No Aug Bias:  </a:t>
            </a:r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Strong malignant bias — benign recall only 44.4% vs malignant recall 85.7%. Augmentation corrects this, bringing benign recall up to 64.4% at the same accuracy level (67.3%). MLO view is harder to learn than CC due to less standardized anatomy.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RESULTS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Dual-Input Model Results (Best Performer)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0116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82.6%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8333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2064715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Augmentation ✓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1280160"/>
            <a:ext cx="20116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280160"/>
            <a:ext cx="201168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96312" y="18333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96312" y="2064715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Aug · 70 samples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0" y="1280160"/>
            <a:ext cx="201168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280160"/>
            <a:ext cx="2011680" cy="54864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7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45152" y="183337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45152" y="2064715"/>
            <a:ext cx="18653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Aug · 70 samples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720840" y="1280160"/>
            <a:ext cx="210312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5EA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20840" y="1280160"/>
            <a:ext cx="2103120" cy="54864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371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8A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74.3%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793992" y="1833372"/>
            <a:ext cx="1956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F1 Balance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793992" y="2064715"/>
            <a:ext cx="1956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Recall</a:t>
            </a:r>
            <a:endParaRPr lang="en-US" sz="8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423160"/>
            <a:ext cx="4114800" cy="228600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423160"/>
            <a:ext cx="4297680" cy="2286000"/>
          </a:xfrm>
          <a:prstGeom prst="rect">
            <a:avLst/>
          </a:prstGeom>
        </p:spPr>
      </p:pic>
      <p:sp>
        <p:nvSpPr>
          <p:cNvPr id="28" name="Shape 24"/>
          <p:cNvSpPr/>
          <p:nvPr/>
        </p:nvSpPr>
        <p:spPr>
          <a:xfrm>
            <a:off x="274320" y="4846320"/>
            <a:ext cx="8595360" cy="594360"/>
          </a:xfrm>
          <a:prstGeom prst="rect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5760" y="4873752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✓ Best Model:  </a:t>
            </a:r>
            <a:pPr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The dual CC+MLO model with augmentation achieves the highest validation accuracy (82.6%) and most balanced class predictions (F1=0.74 for both classes). Combining both views provides richer complementary information than either view alone.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AUGMENTATION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vs. Without Augmentation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34440"/>
            <a:ext cx="41605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160520" cy="4754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✗  Without Augmentation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Train accuracy → ~99–100% (overfitting)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2386584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408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Validation loss diverges (volatile spikes)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898648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28529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Strong class bias (malignant or benign)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107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364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Poor generalization to test set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92277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770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Large train/val gap throughout training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16052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1234440"/>
            <a:ext cx="4160520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23444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✓  With Augmentation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874520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18288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Training more stable and gradual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2386584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12080" y="234086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Validation loss better controlled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937760" y="2898648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12080" y="28529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More balanced class predictions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937760" y="3410712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336499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Improved generalization (+8% for CC)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937760" y="3922776"/>
            <a:ext cx="164592" cy="16459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3877056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1628"/>
                </a:solidFill>
              </a:rPr>
              <a:t>Best dual-model val accuracy: 82.6%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800600"/>
            <a:ext cx="841248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482803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A9A0"/>
                </a:solidFill>
              </a:rPr>
              <a:t>Key Conclusion:  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Augmentation improves model RELIABILITY more than raw accuracy. It reduces overfitting and class bias — critical qualities for clinical deployment where balanced detection matters.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AUGMENTATION ANALYSIS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Behavior: Augmentation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Without Augmentation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63040"/>
            <a:ext cx="411480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75488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With Augmentation</a:t>
            </a:r>
            <a:endParaRPr lang="en-US" sz="11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63040"/>
            <a:ext cx="4114800" cy="23774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3977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Issue          Without Augmentation          With Augmentation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274320" y="4233672"/>
            <a:ext cx="8595360" cy="274320"/>
          </a:xfrm>
          <a:prstGeom prst="rect">
            <a:avLst/>
          </a:prstGeom>
          <a:solidFill>
            <a:srgbClr val="F5F8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42519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Overfitting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2286000" y="4251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Train loss → 0, Val loss → 1.0+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5577840" y="425196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Reduced gap, slower divergence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4320" y="4535424"/>
            <a:ext cx="85953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455371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Stability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2286000" y="45537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Volatile val loss spikes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577840" y="455371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Smoother validation curves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274320" y="4837176"/>
            <a:ext cx="8595360" cy="274320"/>
          </a:xfrm>
          <a:prstGeom prst="rect">
            <a:avLst/>
          </a:prstGeom>
          <a:solidFill>
            <a:srgbClr val="F5F8FC"/>
          </a:solidFill>
          <a:ln w="12700">
            <a:solidFill>
              <a:srgbClr val="E5EA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85546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</a:rPr>
              <a:t>Class Bias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2286000" y="48554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C2626"/>
                </a:solidFill>
              </a:rPr>
              <a:t>Extreme imbalance in recall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577840" y="485546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6A34A"/>
                </a:solidFill>
              </a:rPr>
              <a:t>Balanced Benign/Malignant recall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COMPARISON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Comparison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150876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" y="1280160"/>
            <a:ext cx="1453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83080" y="1280160"/>
            <a:ext cx="50292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280160"/>
            <a:ext cx="4480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0" y="1280160"/>
            <a:ext cx="118872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128016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Best Val Acc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0" y="1280160"/>
            <a:ext cx="86868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280160"/>
            <a:ext cx="813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 Acc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280160"/>
            <a:ext cx="118872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1280160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Benign Recall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532120" y="1280160"/>
            <a:ext cx="141732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1280160"/>
            <a:ext cx="1362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Malignant Recall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49440" y="1280160"/>
            <a:ext cx="1005840" cy="4114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280160"/>
            <a:ext cx="950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F1 Macro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1691640"/>
            <a:ext cx="150876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691640"/>
            <a:ext cx="1435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CC CNN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783080" y="1691640"/>
            <a:ext cx="5029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19656" y="1691640"/>
            <a:ext cx="429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No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1691640"/>
            <a:ext cx="11887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22576" y="169164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73.9%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0" y="1691640"/>
            <a:ext cx="86868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11296" y="1691640"/>
            <a:ext cx="795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67.8%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343400" y="1691640"/>
            <a:ext cx="11887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9976" y="169164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95.0%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1691640"/>
            <a:ext cx="14173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68696" y="1691640"/>
            <a:ext cx="13441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44.7%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949440" y="1691640"/>
            <a:ext cx="100584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1691640"/>
            <a:ext cx="932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0.67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2167128"/>
            <a:ext cx="15087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" y="2167128"/>
            <a:ext cx="1435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CC CNN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783080" y="2167128"/>
            <a:ext cx="502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819656" y="2167128"/>
            <a:ext cx="429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Yes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286000" y="2167128"/>
            <a:ext cx="11887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22576" y="2167128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72.8%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474720" y="2167128"/>
            <a:ext cx="868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2167128"/>
            <a:ext cx="795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75.9%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343400" y="2167128"/>
            <a:ext cx="11887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79976" y="2167128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87.5%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32120" y="2167128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68696" y="2167128"/>
            <a:ext cx="13441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66.0%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949440" y="2167128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86016" y="2167128"/>
            <a:ext cx="932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0.76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2642616"/>
            <a:ext cx="150876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0896" y="2642616"/>
            <a:ext cx="1435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MLO CNN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783080" y="2642616"/>
            <a:ext cx="5029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19656" y="2642616"/>
            <a:ext cx="429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No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2286000" y="2642616"/>
            <a:ext cx="11887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22576" y="2642616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69.8%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474720" y="2642616"/>
            <a:ext cx="86868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11296" y="2642616"/>
            <a:ext cx="795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67.3%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343400" y="2642616"/>
            <a:ext cx="11887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79976" y="2642616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44.4%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532120" y="2642616"/>
            <a:ext cx="14173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568696" y="2642616"/>
            <a:ext cx="13441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85.7%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949440" y="2642616"/>
            <a:ext cx="100584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86016" y="2642616"/>
            <a:ext cx="932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0.65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" y="3118104"/>
            <a:ext cx="15087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" y="3118104"/>
            <a:ext cx="1435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MLO CNN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783080" y="3118104"/>
            <a:ext cx="5029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19656" y="3118104"/>
            <a:ext cx="429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Yes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2286000" y="3118104"/>
            <a:ext cx="11887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22576" y="3118104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67.7%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474720" y="3118104"/>
            <a:ext cx="8686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511296" y="3118104"/>
            <a:ext cx="795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67.3%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343400" y="3118104"/>
            <a:ext cx="11887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379976" y="3118104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64.4%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532120" y="311810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68696" y="3118104"/>
            <a:ext cx="13441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69.6%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6949440" y="3118104"/>
            <a:ext cx="10058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986016" y="3118104"/>
            <a:ext cx="932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0.67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74320" y="3593592"/>
            <a:ext cx="150876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10896" y="3593592"/>
            <a:ext cx="1435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Dual CC+MLO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1783080" y="3593592"/>
            <a:ext cx="5029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19656" y="3593592"/>
            <a:ext cx="429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No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2286000" y="3593592"/>
            <a:ext cx="11887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322576" y="3593592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81.2%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3474720" y="3593592"/>
            <a:ext cx="86868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511296" y="3593592"/>
            <a:ext cx="795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70.0%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4343400" y="3593592"/>
            <a:ext cx="11887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379976" y="3593592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78.4%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5532120" y="3593592"/>
            <a:ext cx="141732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568696" y="3593592"/>
            <a:ext cx="13441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60.6%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949440" y="3593592"/>
            <a:ext cx="1005840" cy="448056"/>
          </a:xfrm>
          <a:prstGeom prst="rect">
            <a:avLst/>
          </a:prstGeom>
          <a:solidFill>
            <a:srgbClr val="F5F8FC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86016" y="3593592"/>
            <a:ext cx="932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</a:rPr>
              <a:t>0.70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74320" y="4069080"/>
            <a:ext cx="150876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10896" y="4069080"/>
            <a:ext cx="14356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Dual CC+MLO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1783080" y="4069080"/>
            <a:ext cx="50292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19656" y="4069080"/>
            <a:ext cx="429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Yes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286000" y="4069080"/>
            <a:ext cx="118872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322576" y="406908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82.6%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3474720" y="4069080"/>
            <a:ext cx="86868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3511296" y="4069080"/>
            <a:ext cx="79552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74.3%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4343400" y="4069080"/>
            <a:ext cx="118872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379976" y="4069080"/>
            <a:ext cx="11155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70.3%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5532120" y="4069080"/>
            <a:ext cx="141732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5568696" y="4069080"/>
            <a:ext cx="13441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78.8%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949440" y="4069080"/>
            <a:ext cx="1005840" cy="448056"/>
          </a:xfrm>
          <a:prstGeom prst="rect">
            <a:avLst/>
          </a:prstGeom>
          <a:solidFill>
            <a:srgbClr val="E8F5E9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86016" y="4069080"/>
            <a:ext cx="9326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0.74</a:t>
            </a:r>
            <a:endParaRPr lang="en-US" sz="950" dirty="0"/>
          </a:p>
        </p:txBody>
      </p:sp>
      <p:sp>
        <p:nvSpPr>
          <p:cNvPr id="104" name="Text 102"/>
          <p:cNvSpPr/>
          <p:nvPr/>
        </p:nvSpPr>
        <p:spPr>
          <a:xfrm>
            <a:off x="8613648" y="4069080"/>
            <a:ext cx="502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★ BEST</a:t>
            </a:r>
            <a:endParaRPr lang="en-US" sz="800" dirty="0"/>
          </a:p>
        </p:txBody>
      </p:sp>
      <p:sp>
        <p:nvSpPr>
          <p:cNvPr id="105" name="Shape 103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28A9A0">
              <a:alpha val="12000"/>
            </a:srgbClr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A1628"/>
                </a:solidFill>
              </a:rPr>
              <a:t>Dual-input model with augmentation achieves both the highest validation accuracy and the most balanced class-level performance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INSIGHTS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Insights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4160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475488" cy="1097280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Single-View Insufficient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6642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CC and MLO single-view models plateau at ~67–68% accuracy with consistent overfitting, demonstrating that one view alone lacks sufficient discriminative information.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280160"/>
            <a:ext cx="4160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280160"/>
            <a:ext cx="47548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28016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4648" y="1371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MLO is Harder to Learn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84648" y="16642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MLO anatomy is less standardized than CC, leading to stronger class bias (toward malignant) and more volatile validation curves, even with identical training setup.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14600"/>
            <a:ext cx="4160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514600"/>
            <a:ext cx="475488" cy="1097280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1460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1248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Augmentation Reduces Bias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41248" y="28986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Data augmentation reliably reduces class prediction bias and overfitting across all models. The improvement in recall balance is more impactful than raw accuracy gains.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17720" y="2514600"/>
            <a:ext cx="4160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514600"/>
            <a:ext cx="47548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251460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84648" y="2606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Dual-View Wins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84648" y="289864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Combining CC + MLO features via dual-input architecture achieves best val accuracy (82.6%) and balanced F1 scores — confirming that multi-view learning captures complementary information.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4160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49040"/>
            <a:ext cx="475488" cy="1097280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74904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1248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Dataset Size Limits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" y="41330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The small test set sizes (70–101 samples) and high variance in validation curves suggest that larger datasets and ensembling would further stabilize performance.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17720" y="3749040"/>
            <a:ext cx="416052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3749040"/>
            <a:ext cx="47548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3749040"/>
            <a:ext cx="475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84648" y="3840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Clinical Relevance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84648" y="413308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Balanced recall (avoiding bias toward either class) is more clinically important than accuracy alone — a false negative (missed cancer) is far more costly than a false positive.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572000" cy="4572000"/>
          </a:xfrm>
          <a:prstGeom prst="ellipse">
            <a:avLst/>
          </a:prstGeom>
          <a:solidFill>
            <a:srgbClr val="1B7CC4">
              <a:alpha val="12000"/>
            </a:srgbClr>
          </a:solidFill>
          <a:ln w="12700">
            <a:solidFill>
              <a:srgbClr val="1B7CC4">
                <a:alpha val="12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371600" cy="0"/>
          </a:xfrm>
          <a:prstGeom prst="line">
            <a:avLst/>
          </a:prstGeom>
          <a:noFill/>
          <a:ln w="38100">
            <a:solidFill>
              <a:srgbClr val="28A9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" cy="256032"/>
          </a:xfrm>
          <a:prstGeom prst="ellipse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051560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ResNet18 fine-tuning on mammography is feasible but requires careful regularization strategy to overcome overfitting on small medical datasets.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256032" cy="256032"/>
          </a:xfrm>
          <a:prstGeom prst="ellipse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856232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Dual-input CC+MLO architecture significantly outperforms single-view models — val accuracy improves from ~73% to 82.6%.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06624"/>
            <a:ext cx="256032" cy="256032"/>
          </a:xfrm>
          <a:prstGeom prst="ellipse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660904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Data augmentation is essential for balanced, clinically reliable predictions even when it doesn't drastically improve accuracy.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511296"/>
            <a:ext cx="256032" cy="256032"/>
          </a:xfrm>
          <a:prstGeom prst="ellipse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65576"/>
            <a:ext cx="7955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E8"/>
                </a:solidFill>
              </a:rPr>
              <a:t>Patient-wise data splitting is critical to prevent data leakage and ensure valid generalization estimates.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1B7CC4">
              <a:alpha val="15000"/>
            </a:srgbClr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🏆  Best Result: Dual-Input ResNet18 + Augmentation  ·  Val Acc: 82.6%  ·  Test Acc: 74.3%  ·  Balanced F1: 0.74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FUTURE WORK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57200" cy="36576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8016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2743200" cy="73152"/>
          </a:xfrm>
          <a:prstGeom prst="rect">
            <a:avLst/>
          </a:prstGeom>
          <a:solidFill>
            <a:srgbClr val="1B7CC4"/>
          </a:solidFill>
          <a:ln w="12700">
            <a:solidFill>
              <a:srgbClr val="1B7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Larger Datasets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Incorporate full CBIS-DDSM dataset and external mammography datasets (VinDr, INbreast) to improve generalization and reduce variance.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128016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280160"/>
            <a:ext cx="2743200" cy="73152"/>
          </a:xfrm>
          <a:prstGeom prst="rect">
            <a:avLst/>
          </a:prstGeom>
          <a:solidFill>
            <a:srgbClr val="28A9A0"/>
          </a:solidFill>
          <a:ln w="12700">
            <a:solidFill>
              <a:srgbClr val="28A9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Attention Mechanisms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Add CBAM or channel attention to help the model focus on clinically relevant mass regions and improve interpretability.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280160"/>
            <a:ext cx="2743200" cy="73152"/>
          </a:xfrm>
          <a:prstGeom prst="rect">
            <a:avLst/>
          </a:prstGeom>
          <a:solidFill>
            <a:srgbClr val="E86C2A"/>
          </a:solidFill>
          <a:ln w="12700">
            <a:solidFill>
              <a:srgbClr val="E86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41732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Cross-View Attention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17830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Replace simple feature concatenation with cross-attention between CC and MLO features for richer dual-view interaction.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63240"/>
            <a:ext cx="274320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Grad-CAM Visualization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Apply gradient-based saliency maps to visualize model decisions and validate alignment with radiologist-annotated regions.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54680" y="306324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3063240"/>
            <a:ext cx="274320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Multi-Task Learning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4612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Extend to mass detection + classification jointly — incorporating bounding box supervision alongside class labels.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3063240"/>
            <a:ext cx="2743200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DD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3063240"/>
            <a:ext cx="2743200" cy="731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20040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</a:rPr>
              <a:t>Clinical Evaluation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26480" y="356616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6A8A"/>
                </a:solidFill>
              </a:rPr>
              <a:t>Prospective study comparing model performance against junior radiologists on unseen cases from clinical sites.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Classification Using CNN</dc:title>
  <dc:subject>PptxGenJS Presentation</dc:subject>
  <dc:creator>Research Team</dc:creator>
  <cp:lastModifiedBy>Research Team</cp:lastModifiedBy>
  <cp:revision>1</cp:revision>
  <dcterms:created xsi:type="dcterms:W3CDTF">2026-04-24T09:04:08Z</dcterms:created>
  <dcterms:modified xsi:type="dcterms:W3CDTF">2026-04-24T09:04:08Z</dcterms:modified>
</cp:coreProperties>
</file>