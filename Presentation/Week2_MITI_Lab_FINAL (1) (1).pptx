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64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7797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46720" y="-274320"/>
            <a:ext cx="1371600" cy="1371600"/>
          </a:xfrm>
          <a:prstGeom prst="ellipse">
            <a:avLst/>
          </a:prstGeom>
          <a:solidFill>
            <a:srgbClr val="14B8A6">
              <a:alpha val="25000"/>
            </a:srgbClr>
          </a:solidFill>
          <a:ln w="12700">
            <a:solidFill>
              <a:srgbClr val="14B8A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365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 Lab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— Progress Report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17373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Lesion Classification on CBIS-DDSM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11480" y="2331720"/>
            <a:ext cx="8321040" cy="27432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2532888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532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25146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introduction — what do the 3 lesion classes look like?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" y="3127248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3127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310896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&amp; updated 3-class folder structure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1480" y="3721608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3721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37033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+ MLO dual-view — evidence for using both views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11480" y="4315968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4315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8680" y="429768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PyRadiomics — prior work, feature plan &amp; visualizations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1188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8600" y="11887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— What Do the Three Lesion Classes Look Like?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01168" y="685800"/>
            <a:ext cx="274320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01168" y="6858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Malignant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01168" y="11155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MAMMOGRAM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1168" y="1316736"/>
            <a:ext cx="2743200" cy="1508760"/>
          </a:xfrm>
          <a:prstGeom prst="rect">
            <a:avLst/>
          </a:prstGeom>
          <a:solidFill>
            <a:srgbClr val="132338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1168" y="1316736"/>
            <a:ext cx="2743200" cy="1508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01168" y="28895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/ CROPPED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01168" y="3090672"/>
            <a:ext cx="2743200" cy="1188720"/>
          </a:xfrm>
          <a:prstGeom prst="rect">
            <a:avLst/>
          </a:prstGeom>
          <a:solidFill>
            <a:srgbClr val="132338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01168" y="3090672"/>
            <a:ext cx="2743200" cy="11887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01168" y="4325112"/>
            <a:ext cx="2743200" cy="658368"/>
          </a:xfrm>
          <a:prstGeom prst="rect">
            <a:avLst/>
          </a:prstGeom>
          <a:solidFill>
            <a:srgbClr val="DC2626">
              <a:alpha val="12000"/>
            </a:srgbClr>
          </a:solidFill>
          <a:ln w="12700">
            <a:solidFill>
              <a:srgbClr val="DC262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274320" y="4343400"/>
            <a:ext cx="2596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shape, spiculated edges, heterogeneous texture. High BI-RADS (4–5).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081528" y="685800"/>
            <a:ext cx="274320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3081528" y="6858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081528" y="11155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MAMMOGRAM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3081528" y="1316736"/>
            <a:ext cx="2743200" cy="1508760"/>
          </a:xfrm>
          <a:prstGeom prst="rect">
            <a:avLst/>
          </a:prstGeom>
          <a:solidFill>
            <a:srgbClr val="132338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081528" y="1316736"/>
            <a:ext cx="2743200" cy="1508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081528" y="28895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/ CROPPED</a:t>
            </a:r>
            <a:endParaRPr lang="en-US" sz="800" dirty="0"/>
          </a:p>
        </p:txBody>
      </p:sp>
      <p:sp>
        <p:nvSpPr>
          <p:cNvPr id="21" name="Shape 16"/>
          <p:cNvSpPr/>
          <p:nvPr/>
        </p:nvSpPr>
        <p:spPr>
          <a:xfrm>
            <a:off x="3081528" y="3090672"/>
            <a:ext cx="2743200" cy="1188720"/>
          </a:xfrm>
          <a:prstGeom prst="rect">
            <a:avLst/>
          </a:prstGeom>
          <a:solidFill>
            <a:srgbClr val="132338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081528" y="3090672"/>
            <a:ext cx="2743200" cy="118872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3081528" y="4325112"/>
            <a:ext cx="2743200" cy="65836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3154680" y="4343400"/>
            <a:ext cx="2596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Rounder shape, well-defined margins, uniform texture. Lower BI-RADS (2–3).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5961888" y="685800"/>
            <a:ext cx="274320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5961888" y="6858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/ Healthy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961888" y="11155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MAMMOGRAM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5961888" y="1316736"/>
            <a:ext cx="2743200" cy="1508760"/>
          </a:xfrm>
          <a:prstGeom prst="rect">
            <a:avLst/>
          </a:prstGeom>
          <a:solidFill>
            <a:srgbClr val="132338"/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961888" y="1316736"/>
            <a:ext cx="2743200" cy="1508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961888" y="28895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/ CROPPED</a:t>
            </a:r>
            <a:endParaRPr lang="en-US" sz="800" dirty="0"/>
          </a:p>
        </p:txBody>
      </p:sp>
      <p:sp>
        <p:nvSpPr>
          <p:cNvPr id="31" name="Shape 24"/>
          <p:cNvSpPr/>
          <p:nvPr/>
        </p:nvSpPr>
        <p:spPr>
          <a:xfrm>
            <a:off x="5961888" y="3090672"/>
            <a:ext cx="2743200" cy="1188720"/>
          </a:xfrm>
          <a:prstGeom prst="rect">
            <a:avLst/>
          </a:prstGeom>
          <a:solidFill>
            <a:srgbClr val="132338"/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961888" y="3090672"/>
            <a:ext cx="2743200" cy="1188720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5961888" y="4325112"/>
            <a:ext cx="2743200" cy="658368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6"/>
          <p:cNvSpPr/>
          <p:nvPr/>
        </p:nvSpPr>
        <p:spPr>
          <a:xfrm>
            <a:off x="6035040" y="4343400"/>
            <a:ext cx="2596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visible mass. BENIGN_WITHOUT_CALLBACK — confirmed normal by biopsy.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1188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8600" y="11887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— Folder Structure (Updated for 3-Class)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3840480" cy="3383280"/>
          </a:xfrm>
          <a:prstGeom prst="rect">
            <a:avLst/>
          </a:prstGeom>
          <a:solidFill>
            <a:srgbClr val="132338"/>
          </a:solidFill>
          <a:ln w="12700">
            <a:solidFill>
              <a:srgbClr val="94A3B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3840480" cy="411480"/>
          </a:xfrm>
          <a:prstGeom prst="rect">
            <a:avLst/>
          </a:prstGeom>
          <a:solidFill>
            <a:srgbClr val="2D4A6B"/>
          </a:solidFill>
          <a:ln w="12700">
            <a:solidFill>
              <a:srgbClr val="2D4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7498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2 Class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23444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Mass_Train</a:t>
            </a: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b/  (benign)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cropped images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m/  (malignant)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cropped images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 err="1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Mass_Test</a:t>
            </a: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b/  (benign)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cropped images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m/  (malignant)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cropped images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749808"/>
            <a:ext cx="4526280" cy="3383280"/>
          </a:xfrm>
          <a:prstGeom prst="rect">
            <a:avLst/>
          </a:prstGeom>
          <a:solidFill>
            <a:srgbClr val="132338"/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43400" y="749808"/>
            <a:ext cx="452628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43400" y="749808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3 Class (Current Plan)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80560" y="1234440"/>
            <a:ext cx="4251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Train/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n/  (normal)        ← NEW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cropped images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b/  (benign)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cropped images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m/  (malignant)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cropped images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Test/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n/  (normal)        ← NEW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cropped images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b/  (benign)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cropped images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m/  (malignant)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cropped images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480560" y="1234440"/>
            <a:ext cx="4251960" cy="237744"/>
          </a:xfrm>
          <a:prstGeom prst="rect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480560" y="2596896"/>
            <a:ext cx="4251960" cy="237744"/>
          </a:xfrm>
          <a:prstGeom prst="rect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28600" y="4251960"/>
            <a:ext cx="8641080" cy="658368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4279392"/>
            <a:ext cx="8412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class = BENIGN_WITHOUT_CALLBACK cases from CBIS-DDSM. Crops will be generated and balanced against benign &amp; malignant counts before CNN training.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1188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8600" y="11887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+ MLO Dual-View — Should We Use Both Views?</a:t>
            </a:r>
            <a:endParaRPr lang="en-US" sz="2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713232"/>
            <a:ext cx="1371600" cy="1828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2542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View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737360" y="713232"/>
            <a:ext cx="1005840" cy="1828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37360" y="25420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 View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2926080" y="713232"/>
            <a:ext cx="594360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2926080" y="7132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114800" y="71323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only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212080" y="71323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 only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09360" y="7132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+ MLO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498080" y="7132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(dual)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926080" y="1078992"/>
            <a:ext cx="5943600" cy="420624"/>
          </a:xfrm>
          <a:prstGeom prst="rect">
            <a:avLst/>
          </a:prstGeom>
          <a:solidFill>
            <a:srgbClr val="132338"/>
          </a:solidFill>
          <a:ln w="12700">
            <a:solidFill>
              <a:srgbClr val="1323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2926080" y="107899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114800" y="1078992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85.58%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212080" y="1078992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88.57%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309360" y="107899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90.84%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7498080" y="107899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94.78%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2926080" y="1499616"/>
            <a:ext cx="5943600" cy="420624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2926080" y="149961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114800" y="14996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85.17%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5212080" y="14996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90.34%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309360" y="149961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90.49%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7498080" y="14996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91.98%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2926080" y="1920240"/>
            <a:ext cx="5943600" cy="420624"/>
          </a:xfrm>
          <a:prstGeom prst="rect">
            <a:avLst/>
          </a:prstGeom>
          <a:solidFill>
            <a:srgbClr val="132338"/>
          </a:solidFill>
          <a:ln w="12700">
            <a:solidFill>
              <a:srgbClr val="1323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2926080" y="192024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ResNet101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4114800" y="192024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86.80%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5212080" y="192024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90.97%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6309360" y="192024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91.98%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7498080" y="192024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92.82%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2926080" y="2340864"/>
            <a:ext cx="5943600" cy="420624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2926080" y="234086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InceptionV3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4114800" y="2340864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82.38%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5212080" y="2340864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89.80%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6309360" y="234086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90.00%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7498080" y="234086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93.61%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228600" y="3017520"/>
            <a:ext cx="8641080" cy="502920"/>
          </a:xfrm>
          <a:prstGeom prst="rect">
            <a:avLst/>
          </a:prstGeom>
          <a:solidFill>
            <a:srgbClr val="132338"/>
          </a:solidFill>
          <a:ln w="12700">
            <a:solidFill>
              <a:srgbClr val="D9770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6"/>
          <p:cNvSpPr/>
          <p:nvPr/>
        </p:nvSpPr>
        <p:spPr>
          <a:xfrm>
            <a:off x="228600" y="3017520"/>
            <a:ext cx="411480" cy="502920"/>
          </a:xfrm>
          <a:prstGeom prst="rect">
            <a:avLst/>
          </a:prstGeom>
          <a:solidFill>
            <a:srgbClr val="D97706">
              <a:alpha val="70000"/>
            </a:srgbClr>
          </a:solidFill>
          <a:ln w="12700">
            <a:solidFill>
              <a:srgbClr val="D9770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/>
          <p:nvPr/>
        </p:nvSpPr>
        <p:spPr>
          <a:xfrm>
            <a:off x="228600" y="30175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400" dirty="0"/>
          </a:p>
        </p:txBody>
      </p:sp>
      <p:sp>
        <p:nvSpPr>
          <p:cNvPr id="42" name="Text 38"/>
          <p:cNvSpPr/>
          <p:nvPr/>
        </p:nvSpPr>
        <p:spPr>
          <a:xfrm>
            <a:off x="713232" y="30175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 alone beats CC alone — captures more breast tissue at 45° angle</a:t>
            </a:r>
            <a:endParaRPr lang="en-US" sz="1200" dirty="0"/>
          </a:p>
        </p:txBody>
      </p:sp>
      <p:sp>
        <p:nvSpPr>
          <p:cNvPr id="43" name="Shape 39"/>
          <p:cNvSpPr/>
          <p:nvPr/>
        </p:nvSpPr>
        <p:spPr>
          <a:xfrm>
            <a:off x="228600" y="3584448"/>
            <a:ext cx="8641080" cy="502920"/>
          </a:xfrm>
          <a:prstGeom prst="rect">
            <a:avLst/>
          </a:prstGeom>
          <a:solidFill>
            <a:srgbClr val="132338"/>
          </a:solidFill>
          <a:ln w="12700">
            <a:solidFill>
              <a:srgbClr val="14B8A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0"/>
          <p:cNvSpPr/>
          <p:nvPr/>
        </p:nvSpPr>
        <p:spPr>
          <a:xfrm>
            <a:off x="228600" y="3584448"/>
            <a:ext cx="411480" cy="502920"/>
          </a:xfrm>
          <a:prstGeom prst="rect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1"/>
          <p:cNvSpPr/>
          <p:nvPr/>
        </p:nvSpPr>
        <p:spPr>
          <a:xfrm>
            <a:off x="228600" y="358444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46" name="Text 42"/>
          <p:cNvSpPr/>
          <p:nvPr/>
        </p:nvSpPr>
        <p:spPr>
          <a:xfrm>
            <a:off x="713232" y="35844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Dual-view always outperforms single-view — +2–5% accuracy, up to +21% AUC (ResNet101)</a:t>
            </a:r>
            <a:endParaRPr lang="en-US" sz="1200" dirty="0"/>
          </a:p>
        </p:txBody>
      </p:sp>
      <p:sp>
        <p:nvSpPr>
          <p:cNvPr id="47" name="Shape 43"/>
          <p:cNvSpPr/>
          <p:nvPr/>
        </p:nvSpPr>
        <p:spPr>
          <a:xfrm>
            <a:off x="228600" y="4151376"/>
            <a:ext cx="8641080" cy="502920"/>
          </a:xfrm>
          <a:prstGeom prst="rect">
            <a:avLst/>
          </a:prstGeom>
          <a:solidFill>
            <a:srgbClr val="132338"/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4"/>
          <p:cNvSpPr/>
          <p:nvPr/>
        </p:nvSpPr>
        <p:spPr>
          <a:xfrm>
            <a:off x="228600" y="4151376"/>
            <a:ext cx="411480" cy="502920"/>
          </a:xfrm>
          <a:prstGeom prst="rect">
            <a:avLst/>
          </a:prstGeom>
          <a:solidFill>
            <a:srgbClr val="16A34A">
              <a:alpha val="70000"/>
            </a:srgbClr>
          </a:solidFill>
          <a:ln w="12700">
            <a:solidFill>
              <a:srgbClr val="16A34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5"/>
          <p:cNvSpPr/>
          <p:nvPr/>
        </p:nvSpPr>
        <p:spPr>
          <a:xfrm>
            <a:off x="228600" y="4151376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0" name="Text 46"/>
          <p:cNvSpPr/>
          <p:nvPr/>
        </p:nvSpPr>
        <p:spPr>
          <a:xfrm>
            <a:off x="713232" y="4151376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standard: radiologists always read both CC &amp; MLO — AI should do the same</a:t>
            </a:r>
            <a:endParaRPr lang="en-US" sz="1200" dirty="0"/>
          </a:p>
        </p:txBody>
      </p:sp>
      <p:sp>
        <p:nvSpPr>
          <p:cNvPr id="51" name="Text 47"/>
          <p:cNvSpPr/>
          <p:nvPr/>
        </p:nvSpPr>
        <p:spPr>
          <a:xfrm>
            <a:off x="228600" y="4809744"/>
            <a:ext cx="8641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Yan et al. 'Towards improved breast mass detection using dual-view mammogram matching', Medical Image Analysis, 2021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1188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8600" y="11887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PyRadiomics — What It Is &amp; Prior Work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28600" y="713232"/>
            <a:ext cx="3200400" cy="4206240"/>
          </a:xfrm>
          <a:prstGeom prst="rect">
            <a:avLst/>
          </a:prstGeom>
          <a:solidFill>
            <a:srgbClr val="132338"/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713232"/>
            <a:ext cx="32004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7132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PyRadiomics?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" y="1161288"/>
            <a:ext cx="2962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library that extracts handcrafted mathematical features from medical images — given an image and an ROI mask.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920240"/>
            <a:ext cx="2962656" cy="877824"/>
          </a:xfrm>
          <a:prstGeom prst="rect">
            <a:avLst/>
          </a:prstGeom>
          <a:solidFill>
            <a:srgbClr val="1A2F4A"/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47472" y="1920240"/>
            <a:ext cx="2962656" cy="274320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" y="1920240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3192" y="2212848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" y="2880360"/>
            <a:ext cx="2962656" cy="877824"/>
          </a:xfrm>
          <a:prstGeom prst="rect">
            <a:avLst/>
          </a:prstGeom>
          <a:solidFill>
            <a:srgbClr val="1A2F4A"/>
          </a:solidFill>
          <a:ln w="12700">
            <a:solidFill>
              <a:srgbClr val="14B8A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47472" y="2880360"/>
            <a:ext cx="2962656" cy="274320"/>
          </a:xfrm>
          <a:prstGeom prst="rect">
            <a:avLst/>
          </a:prstGeom>
          <a:solidFill>
            <a:srgbClr val="14B8A6">
              <a:alpha val="70000"/>
            </a:srgbClr>
          </a:solidFill>
          <a:ln w="12700">
            <a:solidFill>
              <a:srgbClr val="14B8A6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7472" y="2880360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3192" y="3172968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entropy, skewness — pixel intensity statistics inside the ROI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" y="3840480"/>
            <a:ext cx="2962656" cy="877824"/>
          </a:xfrm>
          <a:prstGeom prst="rect">
            <a:avLst/>
          </a:prstGeom>
          <a:solidFill>
            <a:srgbClr val="1A2F4A"/>
          </a:solidFill>
          <a:ln w="12700">
            <a:solidFill>
              <a:srgbClr val="CCFBF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47472" y="3840480"/>
            <a:ext cx="2962656" cy="274320"/>
          </a:xfrm>
          <a:prstGeom prst="rect">
            <a:avLst/>
          </a:prstGeom>
          <a:solidFill>
            <a:srgbClr val="CCFBF1">
              <a:alpha val="70000"/>
            </a:srgbClr>
          </a:solidFill>
          <a:ln w="12700">
            <a:solidFill>
              <a:srgbClr val="CCFBF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7472" y="3840480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GLCM texture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3192" y="4133088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Contrast, homogeneity, correlation — how neighboring pixels relate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785616" y="2103120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785616" y="2340864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1188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28600" y="11887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PyRadiomics — Feature Extraction Plan for 3 Classes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1280160" cy="658368"/>
          </a:xfrm>
          <a:prstGeom prst="rect">
            <a:avLst/>
          </a:prstGeom>
          <a:solidFill>
            <a:srgbClr val="2D4A6B"/>
          </a:solidFill>
          <a:ln w="12700">
            <a:solidFill>
              <a:srgbClr val="2D4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74980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image.dcm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508760" y="1078992"/>
            <a:ext cx="201168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709928" y="749808"/>
            <a:ext cx="155448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709928" y="74980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PyRadiomics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64408" y="1078992"/>
            <a:ext cx="201168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65576" y="749808"/>
            <a:ext cx="1371600" cy="658368"/>
          </a:xfrm>
          <a:prstGeom prst="rect">
            <a:avLst/>
          </a:prstGeom>
          <a:solidFill>
            <a:srgbClr val="2D4A6B"/>
          </a:solidFill>
          <a:ln w="12700">
            <a:solidFill>
              <a:srgbClr val="2D4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65576" y="74980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GLCM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37176" y="1078992"/>
            <a:ext cx="201168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38344" y="749808"/>
            <a:ext cx="1188720" cy="658368"/>
          </a:xfrm>
          <a:prstGeom prst="rect">
            <a:avLst/>
          </a:prstGeom>
          <a:solidFill>
            <a:srgbClr val="2D4A6B"/>
          </a:solidFill>
          <a:ln w="12700">
            <a:solidFill>
              <a:srgbClr val="2D4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38344" y="74980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27064" y="1078992"/>
            <a:ext cx="201168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28232" y="749808"/>
            <a:ext cx="1188720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28232" y="74980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(added)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1554480"/>
            <a:ext cx="2834640" cy="3401568"/>
          </a:xfrm>
          <a:prstGeom prst="rect">
            <a:avLst/>
          </a:prstGeom>
          <a:solidFill>
            <a:srgbClr val="132338"/>
          </a:solidFill>
          <a:ln w="12700">
            <a:solidFill>
              <a:srgbClr val="16A34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228600" y="1554480"/>
            <a:ext cx="283464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28600" y="15544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" y="19842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2487168"/>
            <a:ext cx="2651760" cy="502920"/>
          </a:xfrm>
          <a:prstGeom prst="rect">
            <a:avLst/>
          </a:prstGeom>
          <a:solidFill>
            <a:srgbClr val="1A2F4A"/>
          </a:solidFill>
          <a:ln w="12700">
            <a:solidFill>
              <a:srgbClr val="16A34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93192" y="2487168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entropy — uniform background tissue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054096"/>
            <a:ext cx="2651760" cy="502920"/>
          </a:xfrm>
          <a:prstGeom prst="rect">
            <a:avLst/>
          </a:prstGeom>
          <a:solidFill>
            <a:srgbClr val="1A2F4A"/>
          </a:solidFill>
          <a:ln w="12700">
            <a:solidFill>
              <a:srgbClr val="16A34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93192" y="3054096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homogeneity — no lesion present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621024"/>
            <a:ext cx="2651760" cy="502920"/>
          </a:xfrm>
          <a:prstGeom prst="rect">
            <a:avLst/>
          </a:prstGeom>
          <a:solidFill>
            <a:srgbClr val="1A2F4A"/>
          </a:solidFill>
          <a:ln w="12700">
            <a:solidFill>
              <a:srgbClr val="16A34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93192" y="3621024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Sphericity N/A — no mass boundary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4187952"/>
            <a:ext cx="2651760" cy="502920"/>
          </a:xfrm>
          <a:prstGeom prst="rect">
            <a:avLst/>
          </a:prstGeom>
          <a:solidFill>
            <a:srgbClr val="1A2F4A"/>
          </a:solidFill>
          <a:ln w="12700">
            <a:solidFill>
              <a:srgbClr val="16A34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93192" y="4187952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surface area / volume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0" y="1554480"/>
            <a:ext cx="2834640" cy="3401568"/>
          </a:xfrm>
          <a:prstGeom prst="rect">
            <a:avLst/>
          </a:prstGeom>
          <a:solidFill>
            <a:srgbClr val="132338"/>
          </a:solidFill>
          <a:ln w="12700">
            <a:solidFill>
              <a:srgbClr val="D9770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200400" y="1554480"/>
            <a:ext cx="283464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200400" y="15544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291840" y="19842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91840" y="2487168"/>
            <a:ext cx="2651760" cy="502920"/>
          </a:xfrm>
          <a:prstGeom prst="rect">
            <a:avLst/>
          </a:prstGeom>
          <a:solidFill>
            <a:srgbClr val="1A2F4A"/>
          </a:solidFill>
          <a:ln w="12700">
            <a:solidFill>
              <a:srgbClr val="D9770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364992" y="2487168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sphericity — rounder shape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91840" y="3054096"/>
            <a:ext cx="2651760" cy="502920"/>
          </a:xfrm>
          <a:prstGeom prst="rect">
            <a:avLst/>
          </a:prstGeom>
          <a:solidFill>
            <a:srgbClr val="1A2F4A"/>
          </a:solidFill>
          <a:ln w="12700">
            <a:solidFill>
              <a:srgbClr val="D9770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364992" y="3054096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Circumscribed margins — low GLCM contrast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91840" y="3621024"/>
            <a:ext cx="2651760" cy="502920"/>
          </a:xfrm>
          <a:prstGeom prst="rect">
            <a:avLst/>
          </a:prstGeom>
          <a:solidFill>
            <a:srgbClr val="1A2F4A"/>
          </a:solidFill>
          <a:ln w="12700">
            <a:solidFill>
              <a:srgbClr val="D9770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364992" y="3621024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entropy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91840" y="4187952"/>
            <a:ext cx="2651760" cy="502920"/>
          </a:xfrm>
          <a:prstGeom prst="rect">
            <a:avLst/>
          </a:prstGeom>
          <a:solidFill>
            <a:srgbClr val="1A2F4A"/>
          </a:solidFill>
          <a:ln w="12700">
            <a:solidFill>
              <a:srgbClr val="D9770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364992" y="4187952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Well-defined boundary in mask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172200" y="1554480"/>
            <a:ext cx="2834640" cy="3401568"/>
          </a:xfrm>
          <a:prstGeom prst="rect">
            <a:avLst/>
          </a:prstGeom>
          <a:solidFill>
            <a:srgbClr val="132338"/>
          </a:solidFill>
          <a:ln w="12700">
            <a:solidFill>
              <a:srgbClr val="DC262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172200" y="1554480"/>
            <a:ext cx="283464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172200" y="15544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Malignant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263640" y="19842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263640" y="2487168"/>
            <a:ext cx="2651760" cy="502920"/>
          </a:xfrm>
          <a:prstGeom prst="rect">
            <a:avLst/>
          </a:prstGeom>
          <a:solidFill>
            <a:srgbClr val="1A2F4A"/>
          </a:solidFill>
          <a:ln w="12700">
            <a:solidFill>
              <a:srgbClr val="DC262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336792" y="2487168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sphericity — irregular shape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263640" y="3054096"/>
            <a:ext cx="2651760" cy="502920"/>
          </a:xfrm>
          <a:prstGeom prst="rect">
            <a:avLst/>
          </a:prstGeom>
          <a:solidFill>
            <a:srgbClr val="1A2F4A"/>
          </a:solidFill>
          <a:ln w="12700">
            <a:solidFill>
              <a:srgbClr val="DC262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336792" y="3054096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GLCM contrast — heterogeneous texture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263640" y="3621024"/>
            <a:ext cx="2651760" cy="502920"/>
          </a:xfrm>
          <a:prstGeom prst="rect">
            <a:avLst/>
          </a:prstGeom>
          <a:solidFill>
            <a:srgbClr val="1A2F4A"/>
          </a:solidFill>
          <a:ln w="12700">
            <a:solidFill>
              <a:srgbClr val="DC262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336792" y="3621024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entropy — chaotic intensity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263640" y="4187952"/>
            <a:ext cx="2651760" cy="502920"/>
          </a:xfrm>
          <a:prstGeom prst="rect">
            <a:avLst/>
          </a:prstGeom>
          <a:solidFill>
            <a:srgbClr val="1A2F4A"/>
          </a:solidFill>
          <a:ln w="12700">
            <a:solidFill>
              <a:srgbClr val="DC262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336792" y="4187952"/>
            <a:ext cx="2505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Spiculated edges — high surface area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prove which features statistically differ across 3 classes → select most discriminative features for CNN fusion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606</Words>
  <Application>Microsoft Office PowerPoint</Application>
  <PresentationFormat>On-screen Show (16:9)</PresentationFormat>
  <Paragraphs>137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MITI Lab Week 2 — Breast Lesion Classification</dc:title>
  <dc:subject>PptxGenJS Presentation</dc:subject>
  <dc:creator>PptxGenJS</dc:creator>
  <cp:lastModifiedBy>shazliabdullah</cp:lastModifiedBy>
  <cp:revision>2</cp:revision>
  <dcterms:created xsi:type="dcterms:W3CDTF">2026-04-04T07:40:13Z</dcterms:created>
  <dcterms:modified xsi:type="dcterms:W3CDTF">2026-04-06T03:43:08Z</dcterms:modified>
</cp:coreProperties>
</file>