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369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Radiomics Feature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from CBIS-DDSM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Progress Report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4572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</a:rPr>
              <a:t>Alimardon  ·  Ulmasbek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90B0"/>
                </a:solidFill>
              </a:rPr>
              <a:t>Mammography AI Research  ·  Radiomics Pipeline  · 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731520"/>
            <a:ext cx="2560320" cy="2560320"/>
          </a:xfrm>
          <a:prstGeom prst="ellipse">
            <a:avLst/>
          </a:prstGeom>
          <a:solidFill>
            <a:srgbClr val="1A3A7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15200" y="1645920"/>
            <a:ext cx="2011680" cy="2011680"/>
          </a:xfrm>
          <a:prstGeom prst="ellipse">
            <a:avLst/>
          </a:prstGeom>
          <a:solidFill>
            <a:srgbClr val="0891B2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18872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Objective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2697480" cy="4114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2697480" cy="109728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00584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874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3A7C"/>
                </a:solidFill>
              </a:rPr>
              <a:t>01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</a:rPr>
              <a:t>Structuring Data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29718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Organise CBIS-DDSM into CC / MLO views with Benign and Malignant subfolders and pair each image with its ROI mask.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18688" y="713232"/>
            <a:ext cx="2697480" cy="4114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18688" y="713232"/>
            <a:ext cx="269748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1005840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18688" y="1874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891B2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3355848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</a:rPr>
              <a:t>Normalize Data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355848" y="29718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Apply Z-score normalisation to all extracted features so they share a common scale before model training.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71616" y="713232"/>
            <a:ext cx="2697480" cy="4114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071616" y="713232"/>
            <a:ext cx="269748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456" y="1005840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71616" y="18745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C3AED"/>
                </a:solidFill>
              </a:rPr>
              <a:t>03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6208776" y="24231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0"/>
                </a:solidFill>
              </a:rPr>
              <a:t>Learn About Features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208776" y="2971800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Understand and extract PyRadiomics features — Intensity, Shape, and Texture — and analyse the impact of each group.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(CBIS-DDSM)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41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8869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Type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88720" y="11612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Mammography Dataset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103120"/>
            <a:ext cx="4114800" cy="1005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5000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Classification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88720" y="2487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Benign  ·  Malignant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365760" y="3429000"/>
            <a:ext cx="4114800" cy="137160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Two Views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" y="39319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CC</a:t>
            </a:r>
            <a:r>
              <a:rPr lang="en-US" sz="1300" dirty="0">
                <a:solidFill>
                  <a:srgbClr val="FFFFFF"/>
                </a:solidFill>
              </a:rPr>
              <a:t>  Cranio-Caudal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MLO</a:t>
            </a:r>
            <a:r>
              <a:rPr lang="en-US" sz="1300" dirty="0">
                <a:solidFill>
                  <a:srgbClr val="FFFFFF"/>
                </a:solidFill>
              </a:rPr>
              <a:t>  Medio-Lateral Oblique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846320" y="777240"/>
            <a:ext cx="3931920" cy="40233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02920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0"/>
                </a:solidFill>
              </a:rPr>
              <a:t>Data Groups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029200" y="1417320"/>
            <a:ext cx="3474720" cy="822960"/>
          </a:xfrm>
          <a:prstGeom prst="rect">
            <a:avLst/>
          </a:prstGeom>
          <a:solidFill>
            <a:srgbClr val="1A3A7C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120640" y="1417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📁  Full Images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029200" y="2468880"/>
            <a:ext cx="3474720" cy="82296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5120640" y="2468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✂️  Cropped Images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solidFill>
            <a:srgbClr val="7C3AED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2064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🎭  ROI Masks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Final Data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8595360" cy="4315968"/>
          </a:xfrm>
          <a:prstGeom prst="rect">
            <a:avLst/>
          </a:prstGeom>
          <a:solidFill>
            <a:srgbClr val="0D1B4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Project Directory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58952" y="1394460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Data_Mass_Train_Full/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06424" y="1655064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 CC / MLO / Benign / Malignant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1915668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Data_Mass_Train_Cropped/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06424" y="2176272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├──  CC/  Benign/  Malignant/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06424" y="2436876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 MLO/ Benign/  Malignant/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2697480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Data_Mass_Train_ROI/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06424" y="2958084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 CC / MLO / Benign / Malignant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58952" y="3218688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Data_Mass_Test_Full/  Test_Cropped/  Test_ROI/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06424" y="3479292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09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 same CC / MLO / Benign / Malignant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" y="3739896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Benign_without_callback/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06424" y="4000500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└──  separate cases — not used in main classification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" y="4261104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 extracted_features_cropped_only/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06424" y="4521708"/>
            <a:ext cx="832104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  Mass_train/  (CSV files)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818888"/>
            <a:ext cx="164592" cy="1645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7914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Train 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06040" y="4818888"/>
            <a:ext cx="164592" cy="16459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834640" y="47914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Test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4818888"/>
            <a:ext cx="164592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47914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Extracted features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12280" y="4818888"/>
            <a:ext cx="164592" cy="16459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40880" y="4791456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Aux cases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Generated CSV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4160520"/>
          </a:xfrm>
          <a:prstGeom prst="rect">
            <a:avLst/>
          </a:prstGeom>
          <a:solidFill>
            <a:srgbClr val="0D1B4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extracted_features_cropped_only / Mass_train/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Mass_train/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51560" y="160020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cc_extracted_features.csv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93852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cc_extracted_features_without_shape.csv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51560" y="2276856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cc_extracted_features_normalized.csv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2615184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cc_extracted_features_without_shape_normalized.csv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51560" y="2953512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mlo_extracted_features.csv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51560" y="363016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mlo_extracted_features_without_shape.csv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3968496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 mlo_extracted_features_normalized.csv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4306824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 mlo_extracted_features_without_shape_normalized.csv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617720"/>
            <a:ext cx="201168" cy="16459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59028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= raw features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4617720"/>
            <a:ext cx="201168" cy="16459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749040" y="45902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= normalised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PyRadiomics Features  (1 / 2)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4160520" cy="4251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685800"/>
            <a:ext cx="4160520" cy="475488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6858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📊  First Order  (Intensity)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" y="1225296"/>
            <a:ext cx="4123944" cy="269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225296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Mean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2608" y="1504188"/>
            <a:ext cx="4123944" cy="2697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04188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Median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" y="1783080"/>
            <a:ext cx="4123944" cy="269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783080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Minimum / Maximum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92608" y="2061972"/>
            <a:ext cx="4123944" cy="2697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61972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Range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92608" y="2340864"/>
            <a:ext cx="4123944" cy="269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340864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Variance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" y="2619756"/>
            <a:ext cx="4123944" cy="2697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619756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Standard Deviation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92608" y="2898648"/>
            <a:ext cx="4123944" cy="269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98648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Skewness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2608" y="3177540"/>
            <a:ext cx="4123944" cy="2697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177540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Kurtosis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" y="3456432"/>
            <a:ext cx="4123944" cy="269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456432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Energy &amp; Entropy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2608" y="3735324"/>
            <a:ext cx="4123944" cy="26974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735324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Uniformity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2608" y="4014216"/>
            <a:ext cx="4123944" cy="2697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014216"/>
            <a:ext cx="384048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Percentiles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709160" y="685800"/>
            <a:ext cx="4160520" cy="4251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6052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68580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🔷  Shape  (2D)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27448" y="1225296"/>
            <a:ext cx="412394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12252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Area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727448" y="1563624"/>
            <a:ext cx="4123944" cy="32918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92040" y="156362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Perimeter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27448" y="1901952"/>
            <a:ext cx="412394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19019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Elongation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27448" y="2240280"/>
            <a:ext cx="4123944" cy="32918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224028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Major Axis Length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27448" y="2578608"/>
            <a:ext cx="412394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25786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Minor Axis Length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727448" y="2916936"/>
            <a:ext cx="4123944" cy="32918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29169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Maximum Diameter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727448" y="3255264"/>
            <a:ext cx="412394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92040" y="325526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Sphericity / Roundness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727448" y="3593592"/>
            <a:ext cx="4123944" cy="329184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892040" y="35935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Flatness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727448" y="3931920"/>
            <a:ext cx="4123944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92040" y="393192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</a:rPr>
              <a:t>·  Compactness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PyRadiomics Features  (2 / 2) — Texture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920240" cy="4251960"/>
          </a:xfrm>
          <a:prstGeom prst="rect">
            <a:avLst/>
          </a:prstGeom>
          <a:solidFill>
            <a:srgbClr val="0D1B4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8BDF8"/>
                </a:solidFill>
              </a:rPr>
              <a:t>~112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</a:rPr>
              <a:t>Total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CADCFC"/>
                </a:solidFill>
              </a:rPr>
              <a:t>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090B0"/>
                </a:solidFill>
              </a:rPr>
              <a:t>via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090B0"/>
                </a:solidFill>
              </a:rPr>
              <a:t>PyRadiomics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685800"/>
            <a:ext cx="306324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77440" y="685800"/>
            <a:ext cx="3063240" cy="38404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685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GLCM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7168" y="112471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Contrast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87168" y="143560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Correlation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87168" y="174650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Homogeneity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87168" y="20574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Energy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87168" y="2368296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Entropy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685800"/>
            <a:ext cx="306324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60720" y="685800"/>
            <a:ext cx="3063240" cy="384048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68580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GLRLM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70448" y="1124712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Short Run Emphasis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70448" y="143560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Long Run Emphasis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870448" y="1746504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GL Non-Uniformity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70448" y="2057400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Run Length Non-Uniformity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2816352"/>
            <a:ext cx="205740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77440" y="2816352"/>
            <a:ext cx="2057400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77440" y="28163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GLSZM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87168" y="32552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Small Area Emphasis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87168" y="356616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Large Area Emphasis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387705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Zone Percentage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87168" y="418795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GL Variance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2816352"/>
            <a:ext cx="205740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2816352"/>
            <a:ext cx="2057400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28163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GLDM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27448" y="32552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Dependence Non-Uniformity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356616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GL Variance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387705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Small Dep. Emphasis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418795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Large Dep. Emphasis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0" y="2816352"/>
            <a:ext cx="2057400" cy="214884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858000" y="2816352"/>
            <a:ext cx="205740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58000" y="28163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NGTDM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67728" y="3255264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Coarseness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67728" y="356616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Contrast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67728" y="3877056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Busyness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67728" y="4187952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·  Complexity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Generated CSV Files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023360" cy="4114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4023360" cy="457200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685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 Shape Features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7335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CC View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88720" y="17099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cc_extracted_features.csv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188720" y="2075688"/>
            <a:ext cx="1280160" cy="274320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88720" y="2075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564 samples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8346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82112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MLO View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88720" y="3218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mlo_extracted_features.csv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188720" y="3584448"/>
            <a:ext cx="1280160" cy="274320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18872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642 samples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754880" y="685800"/>
            <a:ext cx="4023360" cy="41148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754880" y="685800"/>
            <a:ext cx="402336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754880" y="685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Without Shape Features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937760" y="132588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673352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57784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CC View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577840" y="16733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cc_extracted_features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_without_shape.csv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937760" y="28346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18211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778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MLO View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577840" y="318211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mlo_extracted_features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_without_shape.csv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Verification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4023360" cy="15087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4023360" cy="1097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</a:rPr>
              <a:t>✓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No Missing Values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3990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All 112 features present for each sample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4023360" cy="15087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402336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91B2"/>
                </a:solidFill>
              </a:rPr>
              <a:t>✓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No Duplicate Cases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Each patient record appears exactly once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713232"/>
            <a:ext cx="4023360" cy="15087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713232"/>
            <a:ext cx="4023360" cy="109728"/>
          </a:xfrm>
          <a:prstGeom prst="rect">
            <a:avLst/>
          </a:prstGeom>
          <a:solidFill>
            <a:srgbClr val="1A3A7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3A7C"/>
                </a:solidFill>
              </a:rPr>
              <a:t>✓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669280" y="9875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Correct Label Mapping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13990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Benign → 0,  Malignant → 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468880"/>
            <a:ext cx="4023360" cy="15087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2468880"/>
            <a:ext cx="4023360" cy="10972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</a:rPr>
              <a:t>✓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669280" y="2743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Proper Feature Extraction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All PyRadiomics categories verified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10B98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👉  Dataset is clean, validated, and reliable — ready for modeling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Normalization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3931920" cy="1097280"/>
          </a:xfrm>
          <a:prstGeom prst="rect">
            <a:avLst/>
          </a:prstGeom>
          <a:solidFill>
            <a:srgbClr val="FEF2F2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201168" cy="10972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804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0789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Features had very different scales — some range in hundreds, others in decimals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93392"/>
            <a:ext cx="3931920" cy="1508760"/>
          </a:xfrm>
          <a:prstGeom prst="rect">
            <a:avLst/>
          </a:prstGeom>
          <a:solidFill>
            <a:srgbClr val="0D1B4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Z-Score Normalization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3566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 ( x − μ )  /  σ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90B0"/>
                </a:solidFill>
              </a:rPr>
              <a:t>x = original   μ = mean   σ = std dev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3931920" cy="1097280"/>
          </a:xfrm>
          <a:prstGeom prst="rect">
            <a:avLst/>
          </a:prstGeom>
          <a:solidFill>
            <a:srgbClr val="F0FDF4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201168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749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04164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Mean = 0  ·  Std Dev = 1  ·  All features on same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713232"/>
            <a:ext cx="4114800" cy="4041648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822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Before vs After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1280160"/>
            <a:ext cx="1645920" cy="3200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1280160"/>
            <a:ext cx="9144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280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Before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1280160"/>
            <a:ext cx="10972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After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1664208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6642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Intensity Mean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16642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1245.3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1664208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0.72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231136"/>
            <a:ext cx="37490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223113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Shape Area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223113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0.0023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2231136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-1.04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2798064"/>
            <a:ext cx="374904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79806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GLCM Contrast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279806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</a:rPr>
              <a:t>88.7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2798064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0.31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3657600"/>
            <a:ext cx="3749040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46320" y="36576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👉  Improves model performance &amp; convergence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Progress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22960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229600" cy="82296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0"/>
                </a:solidFill>
              </a:rPr>
              <a:t>1.  Dataset Structured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2161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CC / MLO / Benign / Malignant hierarchy complete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960120"/>
            <a:ext cx="685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0" y="9601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801368"/>
            <a:ext cx="822960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1801368"/>
            <a:ext cx="8229600" cy="82296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1938528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18928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0"/>
                </a:solidFill>
              </a:rPr>
              <a:t>2.  Features Extracted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240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~112 features via PyRadiomics from all images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72400" y="1984248"/>
            <a:ext cx="685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0" y="19842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825496"/>
            <a:ext cx="822960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825496"/>
            <a:ext cx="8229600" cy="82296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2962656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29169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0"/>
                </a:solidFill>
              </a:rPr>
              <a:t>3.  Shape Analysis Dataset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32644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Two parallel CSVs created for comparison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0" y="3008376"/>
            <a:ext cx="685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30083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849624"/>
            <a:ext cx="8229600" cy="82296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5760" y="3849624"/>
            <a:ext cx="8229600" cy="82296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986784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986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394106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40"/>
                </a:solidFill>
              </a:rPr>
              <a:t>4.  Features Normalized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8720" y="428853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Z-score normalization applied to all features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772400" y="4032504"/>
            <a:ext cx="6858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0" y="403250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DONE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663440"/>
            <a:ext cx="8229600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👉  All Week 3 tasks complete — Ready for modeling stage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PresentationFormat>On-screen Show (16:9)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Radiomics Feature Extraction from CBIS-DDSM</dc:title>
  <dc:subject>PptxGenJS Presentation</dc:subject>
  <dc:creator>PptxGenJS</dc:creator>
  <cp:lastModifiedBy>shazliabdullah</cp:lastModifiedBy>
  <cp:revision>2</cp:revision>
  <dcterms:created xsi:type="dcterms:W3CDTF">2026-04-12T14:41:28Z</dcterms:created>
  <dcterms:modified xsi:type="dcterms:W3CDTF">2026-04-12T14:43:38Z</dcterms:modified>
</cp:coreProperties>
</file>