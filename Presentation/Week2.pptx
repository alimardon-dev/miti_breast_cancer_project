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7" r:id="rId12"/>
    <p:sldId id="278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05C5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689-43A0-A239-32F045BBA54B}"/>
              </c:ext>
            </c:extLst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689-43A0-A239-32F045BBA54B}"/>
              </c:ext>
            </c:extLst>
          </c:dPt>
          <c:dPt>
            <c:idx val="2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689-43A0-A239-32F045BBA54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Malignant</c:v>
                </c:pt>
                <c:pt idx="1">
                  <c:v>Benign</c:v>
                </c:pt>
                <c:pt idx="2">
                  <c:v>Benign
w/o Callback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637</c:v>
                </c:pt>
                <c:pt idx="1">
                  <c:v>577</c:v>
                </c:pt>
                <c:pt idx="2">
                  <c:v>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689-43A0-A239-32F045BBA5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Benign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262</c:v>
                </c:pt>
                <c:pt idx="2">
                  <c:v>152</c:v>
                </c:pt>
                <c:pt idx="3">
                  <c:v>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18-4756-BF9A-13D25D8EC4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Malignant</c:v>
                </c:pt>
              </c:strCache>
            </c:strRef>
          </c:tx>
          <c:spPr>
            <a:solidFill>
              <a:srgbClr val="E05C5C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135</c:v>
                </c:pt>
                <c:pt idx="1">
                  <c:v>272</c:v>
                </c:pt>
                <c:pt idx="2">
                  <c:v>170</c:v>
                </c:pt>
                <c:pt idx="3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18-4756-BF9A-13D25D8EC41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BWC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48</c:v>
                </c:pt>
                <c:pt idx="1">
                  <c:v>37</c:v>
                </c:pt>
                <c:pt idx="2">
                  <c:v>14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E18-4756-BF9A-13D25D8EC4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Benign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110</c:v>
                </c:pt>
                <c:pt idx="1">
                  <c:v>2</c:v>
                </c:pt>
                <c:pt idx="2">
                  <c:v>30</c:v>
                </c:pt>
                <c:pt idx="3">
                  <c:v>190</c:v>
                </c:pt>
                <c:pt idx="4">
                  <c:v>245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01-4C02-BB4B-AA7820CE71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Malignant</c:v>
                </c:pt>
              </c:strCache>
            </c:strRef>
          </c:tx>
          <c:spPr>
            <a:solidFill>
              <a:srgbClr val="E05C5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</c:v>
                </c:pt>
                <c:pt idx="1">
                  <c:v>1</c:v>
                </c:pt>
                <c:pt idx="2">
                  <c:v>0</c:v>
                </c:pt>
                <c:pt idx="3">
                  <c:v>45</c:v>
                </c:pt>
                <c:pt idx="4">
                  <c:v>275</c:v>
                </c:pt>
                <c:pt idx="5">
                  <c:v>290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01-4C02-BB4B-AA7820CE71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
(subtle)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
(obvious)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60</c:v>
                </c:pt>
                <c:pt idx="2">
                  <c:v>260</c:v>
                </c:pt>
                <c:pt idx="3">
                  <c:v>375</c:v>
                </c:pt>
                <c:pt idx="4">
                  <c:v>540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4B-4324-864B-01C65881B0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9838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548640"/>
            <a:ext cx="2560320" cy="256032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0" y="2926080"/>
            <a:ext cx="1645920" cy="164592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CBIS-DDSM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Exploration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10972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Breast Imaging Subset of DDSM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et al., Scientific Data 2017  •  Source: TCIA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CBIS-DDSM?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74320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CAD research used private datasets — results couldn't be compared or reproduced across labs.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8686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46120" y="868680"/>
            <a:ext cx="274320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10789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CBIS-DDSM is a standardized, publicly available mammography benchmark curated by Stanford researchers.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8686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868680"/>
            <a:ext cx="274320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10789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160020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753 calcification cases + 891 mass cases. Full DICOM images, ROI masks, and clinical metadata.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920240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1,318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Train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947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abnormality rows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868680"/>
            <a:ext cx="1920240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50592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50592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Test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50592" y="1947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abnormality rows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868680"/>
            <a:ext cx="1920240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26864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1,546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26864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 Train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26864" y="1947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abnormality rows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03136" y="868680"/>
            <a:ext cx="1920240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03136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326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03136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 Test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03136" y="1947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abnormality rows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2514600"/>
            <a:ext cx="109728" cy="1234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vs Abnormality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297180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patient case can contain multiple abnormalities. Each row in the CSV = one abnormality, not one patient.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Mass Train has ~748 cases (from Table 3 of the paper) but 1,318 rows — because each finding is photographed from CC and MLO views.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931920"/>
            <a:ext cx="8595360" cy="8229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9776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columns per row: patient_id  •  breast_density  •  left/right  •  image view  •  mass shape  •  mass margins  •  assessment  •  pathology  •  subtlety  •  image paths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45720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120640" y="868680"/>
            <a:ext cx="3749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120640" y="868680"/>
            <a:ext cx="9144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321808" y="941832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balance: Malignant (637) vs Benign (577) — fairly balanced. Good for binary classification.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120640" y="1984248"/>
            <a:ext cx="3749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120640" y="1984248"/>
            <a:ext cx="91440" cy="96012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321808" y="2057400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Three-class imbalance: Benign_without_callback (104) is much smaller — a challenge for multi-class modeling.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120640" y="3099816"/>
            <a:ext cx="3749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120640" y="3099816"/>
            <a:ext cx="91440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321808" y="3172968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A model trained on imbalanced data learns to predict the dominant class — 90% accuracy can still be clinically useless.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7432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Train Dataset — Pathology Distribution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Density vs Pathology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078992" cy="1005840"/>
          </a:xfrm>
          <a:prstGeom prst="rect">
            <a:avLst/>
          </a:prstGeom>
          <a:solidFill>
            <a:srgbClr val="E8F4F6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503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13385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38988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~290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35608" y="804672"/>
            <a:ext cx="1078992" cy="1005840"/>
          </a:xfrm>
          <a:prstGeom prst="rect">
            <a:avLst/>
          </a:prstGeom>
          <a:solidFill>
            <a:srgbClr val="B8DDE3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35608" y="8503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13385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35608" y="138988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~580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96896" y="804672"/>
            <a:ext cx="1078992" cy="1005840"/>
          </a:xfrm>
          <a:prstGeom prst="rect">
            <a:avLst/>
          </a:prstGeom>
          <a:solidFill>
            <a:srgbClr val="74B8C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96896" y="8503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96896" y="113385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96896" y="138988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~340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58184" y="804672"/>
            <a:ext cx="107899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58184" y="8503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58184" y="113385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dense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58184" y="138988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~105</a:t>
            </a:r>
            <a:endParaRPr lang="en-US" sz="11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274320" y="192024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5577840" y="804672"/>
            <a:ext cx="32918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577840" y="804672"/>
            <a:ext cx="91440" cy="1261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705856" y="877824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705856" y="877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080760" y="89611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2 dominates (~580 cases) — mirrors real clinical population distribution.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577840" y="2231136"/>
            <a:ext cx="32918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577840" y="2231136"/>
            <a:ext cx="91440" cy="1261872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705856" y="2304288"/>
            <a:ext cx="292608" cy="292608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705856" y="2304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080760" y="2322576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 outnumbers benign at D1, D2, and D3. Reverses at D4 — extremely dense tissue makes malignant findings harder to confirm.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577840" y="3657600"/>
            <a:ext cx="32918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5577840" y="3657600"/>
            <a:ext cx="91440" cy="12618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5705856" y="3730752"/>
            <a:ext cx="292608" cy="29260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705856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080760" y="374904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BENIGN_WITHOUT_CALLBACK shrinks with density — radiologists only assign no follow-up when tissue is clearly readable.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Train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399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shape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09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missing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984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not recorded — negligible impact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5603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6334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margins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944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missing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218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invisible in dense tissue — clinically meaningful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777240"/>
            <a:ext cx="41148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777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 Train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63440" y="13258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1399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 type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1709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missing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1984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not identified — small gap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5603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26334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 distribution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2944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376 missing ⚠️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3218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 of cases missing the most important calcification descriptor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840480"/>
            <a:ext cx="8595360" cy="8686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3840480"/>
            <a:ext cx="109728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904488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In medical datasets, missing values are never random. When a radiologist leaves a field blank, it usually means the feature was not visible — the missingness itself is clinically informative.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BI-RADS Assessment Distribution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47548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257800" y="804672"/>
            <a:ext cx="3611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257800" y="804672"/>
            <a:ext cx="9144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68112" y="896112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BI-RADS 2 → almost entirely benign. BI-RADS 5 → almost entirely malignant. Radiologists are reliable at the extremes.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257800" y="1856232"/>
            <a:ext cx="3611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257800" y="1856232"/>
            <a:ext cx="91440" cy="914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68112" y="1947672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BI-RADS 4 is the gray zone — both benign and malignant high. This is where most unnecessary biopsies happen.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257800" y="2907792"/>
            <a:ext cx="3611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257800" y="2907792"/>
            <a:ext cx="91440" cy="91440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68112" y="2999232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BI-RADS 0 still contains ~15 malignant cases. Cancer can hide even when radiologists can't make a call.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257800" y="3959352"/>
            <a:ext cx="3611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257800" y="3959352"/>
            <a:ext cx="9144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68112" y="4050792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adds most value at BI-RADS 4 — reducing false positives and unnecessary biopsies.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Subtlety Distribution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4572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120640" y="804672"/>
            <a:ext cx="3749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120640" y="804672"/>
            <a:ext cx="91440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321808" y="86868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subtlety means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21808" y="1234440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very hard to see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= obvious to radiologist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diagnostic difficulty of the finding.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120640" y="2240280"/>
            <a:ext cx="3749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120640" y="2240280"/>
            <a:ext cx="91440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321808" y="2304288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skewed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21808" y="2670048"/>
            <a:ext cx="34564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enter the dataset only after a radiologist notices them. Extremely subtle findings were never spotted — so they never get recorded.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120640" y="3703320"/>
            <a:ext cx="3749040" cy="1143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120640" y="3703320"/>
            <a:ext cx="91440" cy="114300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321808" y="376732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Bias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21808" y="4114800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weakest precisely where clinical need is strongest — subtle, easy-to-miss findings.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DICOM Image Exploration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2024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4616 × 3016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dimensions (px)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50592" y="822960"/>
            <a:ext cx="192024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50592" y="914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50592" y="1463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depth (uint16)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822960"/>
            <a:ext cx="192024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26864" y="914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61,780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26864" y="1463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value range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03136" y="822960"/>
            <a:ext cx="192024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03136" y="914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 MP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03136" y="1463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pixels per image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19456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194560"/>
            <a:ext cx="10972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2494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dominance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25420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pixels (~10M out of 14M) are pure black (value=0) — empty space outside the breast. Raw pixel statistics are misleading without masking the background.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127248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127248"/>
            <a:ext cx="109728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182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depth matters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4747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photos use 8-bit (0–255). Medical images use 16-bit (0–65535) to preserve subtle tissue density differences invisible in 8-bit.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059936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4059936"/>
            <a:ext cx="109728" cy="804672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114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required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44074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cannot use raw DICOM directly. Required steps: resize (4616×3016 → 224×224), normalize (0–65535 → 0–1), convert bit depth. ROI crops are essential.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2926080" cy="292608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CBIS-DDSM cannot tell us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931920" cy="1371600"/>
          </a:xfrm>
          <a:prstGeom prst="rect">
            <a:avLst/>
          </a:prstGeom>
          <a:solidFill>
            <a:srgbClr val="0E2F4A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Bias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07568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cases a radiologist already noticed are included. Subtle, missed findings are invisible to this dataset.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508760"/>
            <a:ext cx="3931920" cy="1371600"/>
          </a:xfrm>
          <a:prstGeom prst="rect">
            <a:avLst/>
          </a:prstGeom>
          <a:solidFill>
            <a:srgbClr val="0E2F4A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6002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40680" y="1600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Normal Cases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07568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contains an abnormality. A real screening population is mostly normal — model performance will differ in practice.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81528"/>
            <a:ext cx="3931920" cy="1371600"/>
          </a:xfrm>
          <a:prstGeom prst="rect">
            <a:avLst/>
          </a:prstGeom>
          <a:solidFill>
            <a:srgbClr val="0E2F4A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17296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88720" y="317296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Clinical Features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64845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calc_distribution is missing in ~25% of calcification cases — one of the most diagnostically important fields.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081528"/>
            <a:ext cx="3931920" cy="1371600"/>
          </a:xfrm>
          <a:prstGeom prst="rect">
            <a:avLst/>
          </a:prstGeom>
          <a:solidFill>
            <a:srgbClr val="0E2F4A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317296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40680" y="317296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Film, Not Digital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364845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digitized from film mammograms (pre-2000 technology), not modern full-field digital mammography.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046720" y="-274320"/>
            <a:ext cx="1371600" cy="1371600"/>
          </a:xfrm>
          <a:prstGeom prst="ellipse">
            <a:avLst/>
          </a:prstGeom>
          <a:solidFill>
            <a:srgbClr val="14B8A6">
              <a:alpha val="25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MITI Lab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Progress Report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Breast Lesion Classification on CBIS-DDSM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1480" y="2331720"/>
            <a:ext cx="8321040" cy="27432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" y="2532888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25146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0F4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Visual introduction — what do the 3 lesion classes look like?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" y="3127248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480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8680" y="310896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+ MLO dual-view — evidence for using both views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1480" y="3721608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11480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8680" y="382088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updated 3-class folder structure</a:t>
            </a:r>
            <a:endParaRPr lang="en-US" sz="1400" dirty="0">
              <a:solidFill>
                <a:prstClr val="black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11480" y="4315968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11480" y="4315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68680" y="42976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0F4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PyRadiomics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0F4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– feature extraction, next steps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228600" y="1188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28600" y="1188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What Do the Three Lesion Classes Look Like?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1168" y="685800"/>
            <a:ext cx="274320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201168" y="685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Malignant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1168" y="11155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0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FULL MAMMOGRAM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68680" y="1323921"/>
            <a:ext cx="1581912" cy="1508760"/>
          </a:xfrm>
          <a:prstGeom prst="rect">
            <a:avLst/>
          </a:prstGeom>
          <a:solidFill>
            <a:srgbClr val="132338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" y="1335024"/>
            <a:ext cx="1581912" cy="1508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01168" y="28895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0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ROI / CROPPED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68680" y="3090672"/>
            <a:ext cx="1581912" cy="1188720"/>
          </a:xfrm>
          <a:prstGeom prst="rect">
            <a:avLst/>
          </a:prstGeom>
          <a:solidFill>
            <a:srgbClr val="132338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8680" y="3090672"/>
            <a:ext cx="1581912" cy="11887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081528" y="685800"/>
            <a:ext cx="27432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081528" y="685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3081528" y="11155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00" normalizeH="0" baseline="0" noProof="0" dirty="0">
                <a:ln>
                  <a:noFill/>
                </a:ln>
                <a:solidFill>
                  <a:srgbClr val="D9770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FULL MAMMOGRAM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3638006" y="1316736"/>
            <a:ext cx="1436914" cy="1508760"/>
          </a:xfrm>
          <a:prstGeom prst="rect">
            <a:avLst/>
          </a:prstGeom>
          <a:solidFill>
            <a:srgbClr val="132338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38006" y="1316736"/>
            <a:ext cx="1436914" cy="1508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081528" y="28895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00" normalizeH="0" baseline="0" noProof="0" dirty="0">
                <a:ln>
                  <a:noFill/>
                </a:ln>
                <a:solidFill>
                  <a:srgbClr val="D9770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ROI / CROPPED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3638006" y="3090672"/>
            <a:ext cx="1436914" cy="1188720"/>
          </a:xfrm>
          <a:prstGeom prst="rect">
            <a:avLst/>
          </a:prstGeom>
          <a:solidFill>
            <a:srgbClr val="132338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638006" y="3090672"/>
            <a:ext cx="1436914" cy="118872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5961888" y="685800"/>
            <a:ext cx="274320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5961888" y="685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Normal / Healthy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5961888" y="11155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00" normalizeH="0" baseline="0" noProof="0" dirty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FULL MAMMOGRAM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6472646" y="1316736"/>
            <a:ext cx="1378130" cy="1508760"/>
          </a:xfrm>
          <a:prstGeom prst="rect">
            <a:avLst/>
          </a:prstGeom>
          <a:solidFill>
            <a:srgbClr val="132338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18365" y="1316736"/>
            <a:ext cx="1332411" cy="1508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961888" y="28895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00" normalizeH="0" baseline="0" noProof="0" dirty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ROI / CROPPED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4"/>
          <p:cNvSpPr/>
          <p:nvPr/>
        </p:nvSpPr>
        <p:spPr>
          <a:xfrm>
            <a:off x="6472646" y="3090672"/>
            <a:ext cx="1430383" cy="1188720"/>
          </a:xfrm>
          <a:prstGeom prst="rect">
            <a:avLst/>
          </a:prstGeom>
          <a:solidFill>
            <a:srgbClr val="132338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72646" y="3090672"/>
            <a:ext cx="1430383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201168" y="731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CC + MLO — Quantitative Results: Table 4 (Section 4.3)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1168" y="594360"/>
            <a:ext cx="8778240" cy="0"/>
          </a:xfrm>
          <a:prstGeom prst="line">
            <a:avLst/>
          </a:prstGeom>
          <a:noFill/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01168" y="694944"/>
            <a:ext cx="8732520" cy="1463040"/>
          </a:xfrm>
          <a:prstGeom prst="rect">
            <a:avLst/>
          </a:prstGeom>
          <a:solidFill>
            <a:srgbClr val="132338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01168" y="694944"/>
            <a:ext cx="45720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01168" y="2304288"/>
            <a:ext cx="2743200" cy="804672"/>
          </a:xfrm>
          <a:prstGeom prst="rect">
            <a:avLst/>
          </a:prstGeom>
          <a:solidFill>
            <a:srgbClr val="132338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74320" y="2340864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+4.31%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74320" y="268833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VGG16 AUC gain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74320" y="287121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90.47% → 94.78%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145536" y="2304288"/>
            <a:ext cx="2743200" cy="804672"/>
          </a:xfrm>
          <a:prstGeom prst="rect">
            <a:avLst/>
          </a:prstGeom>
          <a:solidFill>
            <a:srgbClr val="13233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218688" y="2340864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+21.36%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218688" y="268833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ResNet101 AUC gain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218688" y="287121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71.46% → 92.82%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089904" y="2304288"/>
            <a:ext cx="2743200" cy="804672"/>
          </a:xfrm>
          <a:prstGeom prst="rect">
            <a:avLst/>
          </a:prstGeom>
          <a:solidFill>
            <a:srgbClr val="132338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163056" y="2340864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87.91%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163056" y="268833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Best accuracy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163056" y="287121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VGG16 + contrastive loss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201168" y="3182112"/>
            <a:ext cx="8732520" cy="1961388"/>
          </a:xfrm>
          <a:prstGeom prst="rect">
            <a:avLst/>
          </a:prstGeom>
          <a:solidFill>
            <a:srgbClr val="132338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201168" y="3182112"/>
            <a:ext cx="45720" cy="1207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292608" y="3218688"/>
            <a:ext cx="8549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DIRECT QUOTE — Section 4.3, paragraph 2: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201168" y="4480560"/>
            <a:ext cx="8732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Source: Yan et al. (2021), Medical Image Analysis 71, 102083 — Section 4.3, Table 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AutoShape 2" descr="1775458940154_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216" y="649447"/>
            <a:ext cx="8676472" cy="1554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2338" y="3419856"/>
            <a:ext cx="6991350" cy="1623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201168" y="731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CC + MLO — Statistical Significance (Section 4.3)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1168" y="594360"/>
            <a:ext cx="8778240" cy="0"/>
          </a:xfrm>
          <a:prstGeom prst="line">
            <a:avLst/>
          </a:prstGeom>
          <a:noFill/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01168" y="694944"/>
            <a:ext cx="8732520" cy="1507080"/>
          </a:xfrm>
          <a:prstGeom prst="rect">
            <a:avLst/>
          </a:prstGeom>
          <a:solidFill>
            <a:srgbClr val="132338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01168" y="694944"/>
            <a:ext cx="45720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292608" y="731520"/>
            <a:ext cx="8549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DIRECT QUOTE — Section 4.3, paragraph 1 (p &lt; 0.05):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01168" y="2286000"/>
            <a:ext cx="2798064" cy="1417320"/>
          </a:xfrm>
          <a:prstGeom prst="rect">
            <a:avLst/>
          </a:prstGeom>
          <a:solidFill>
            <a:srgbClr val="132338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01168" y="2286000"/>
            <a:ext cx="45720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29184" y="239572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MLO &gt; CC (single view)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29184" y="2798064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Better classification on MLO than CC views across all tested backbones.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145536" y="2286000"/>
            <a:ext cx="2798064" cy="1417320"/>
          </a:xfrm>
          <a:prstGeom prst="rect">
            <a:avLst/>
          </a:prstGeom>
          <a:solidFill>
            <a:srgbClr val="132338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145536" y="2286000"/>
            <a:ext cx="45720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273552" y="239572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Dual-view +2% to +4% accuracy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273552" y="2798064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Multi-task models combining classification + matching beat single-view with statistical significance.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089904" y="2286000"/>
            <a:ext cx="2798064" cy="1417320"/>
          </a:xfrm>
          <a:prstGeom prst="rect">
            <a:avLst/>
          </a:prstGeom>
          <a:solidFill>
            <a:srgbClr val="132338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089904" y="2286000"/>
            <a:ext cx="45720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217920" y="239572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 &lt; 0.05 — statistically proven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217920" y="2798064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Student's t-test confirms dual-view matching is not a random improvement.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201168" y="3822192"/>
            <a:ext cx="8732520" cy="1097280"/>
          </a:xfrm>
          <a:prstGeom prst="rect">
            <a:avLst/>
          </a:prstGeom>
          <a:solidFill>
            <a:srgbClr val="0A1C2E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201168" y="3822192"/>
            <a:ext cx="87325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29184" y="387705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Implication for our MITI lab project: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29184" y="4133088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paper uses the same dataset (DDSM-CBIS, 586 CC/MLO pairs). Even naive CC+MLO concatenation beats single-view. Our planned cross-attention fusion sits further along this spectrum — directly justifying the dual-view input strategy in our pipeline.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88" y="594360"/>
            <a:ext cx="8682228" cy="1572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28016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PyRadiomics Feature Extraction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228600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CBIS-DDSM Breast Mass Dataset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4773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ECAE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Radiomics Research Project  |  2026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280160" y="1143000"/>
            <a:ext cx="731520" cy="7315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80160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Moved Mass Train Images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27432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Copied all CBIS-DDSM images into a unified Mass Train folder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7432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251960" y="1143000"/>
            <a:ext cx="731520" cy="7315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51960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83280" y="20116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Separated by Pathology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83280" y="27432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Benign, Benign_without_callback, and Malignant subfolders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17920" y="100584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17920" y="1005840"/>
            <a:ext cx="27432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223760" y="1143000"/>
            <a:ext cx="731520" cy="7315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223760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55080" y="20116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Renamed by their features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55080" y="27432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Renamed each file to reflect its pathology and source folder structure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0077B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Input: PyRadiomics  |  Source: CBIS-DDSM Dataset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After: Folder Restructuring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840480" cy="3931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3840480" cy="347472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356616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CBIS-DDSM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984248"/>
            <a:ext cx="356616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Mass-Training_P_00001_LEFT_CC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2459736"/>
            <a:ext cx="356616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ECAE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07-21-2016-DDSM-NA-67509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17220" y="3389811"/>
            <a:ext cx="356616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EC8E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1-2.dcm  →  ROI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17220" y="3081528"/>
            <a:ext cx="356616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EC8E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1-1.dcm  →  cropped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0" y="914400"/>
            <a:ext cx="4297680" cy="3931920"/>
          </a:xfrm>
          <a:prstGeom prst="rect">
            <a:avLst/>
          </a:prstGeom>
          <a:solidFill>
            <a:srgbClr val="0A1628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0" y="914400"/>
            <a:ext cx="4297680" cy="347472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A9D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09160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09160" y="16642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Benign/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09160" y="19568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7EC8E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└── Mass_Training_...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09160" y="22494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Benign_without_callback/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09160" y="25420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7EC8E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└── Mass_Training_...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09160" y="2834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Malignant/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09160" y="3127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7EC8E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└── Mass_Training_...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09160" y="34198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Output/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09160" y="37124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90EE9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features.csv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Script/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09160" y="4297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radiomics-extract.py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069080" y="2377440"/>
            <a:ext cx="457200" cy="54864"/>
          </a:xfrm>
          <a:prstGeom prst="rect">
            <a:avLst/>
          </a:prstGeom>
          <a:solidFill>
            <a:srgbClr val="8ECAE6"/>
          </a:solidFill>
          <a:ln w="12700">
            <a:solidFill>
              <a:srgbClr val="8ECA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977640" y="21945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8ECA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36B87165-7A36-32CF-4404-0A0EDE8BB38F}"/>
              </a:ext>
            </a:extLst>
          </p:cNvPr>
          <p:cNvSpPr/>
          <p:nvPr/>
        </p:nvSpPr>
        <p:spPr>
          <a:xfrm>
            <a:off x="640080" y="2788920"/>
            <a:ext cx="356616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ECAE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1.000000-ROI mask images-91195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Filename Convention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960120"/>
            <a:ext cx="73152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CAF0F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Mass_Training - P_0001 - LEFT - CC - 1-2 .dcm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920240" cy="1371600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920240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Mass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Abnormality type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60320" y="1874520"/>
            <a:ext cx="1920240" cy="1371600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560320" y="1874520"/>
            <a:ext cx="1920240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560320" y="20299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4A26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60320" y="25420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Folder type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63440" y="1874520"/>
            <a:ext cx="1920240" cy="1371600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63440" y="1874520"/>
            <a:ext cx="1920240" cy="10972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63440" y="20299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9C46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P_0001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63440" y="25420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Patient name / structure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766560" y="1874520"/>
            <a:ext cx="1920240" cy="1371600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766560" y="1874520"/>
            <a:ext cx="1920240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66560" y="20299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A9D8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766560" y="25420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Side of breast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508760" y="3429000"/>
            <a:ext cx="1920240" cy="1371600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508760" y="3429000"/>
            <a:ext cx="192024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508760" y="3584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CC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508760" y="40965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Image view angle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611880" y="3429000"/>
            <a:ext cx="1920240" cy="1371600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611880" y="3429000"/>
            <a:ext cx="1920240" cy="10972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611880" y="3584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7B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1-2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611880" y="40965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Numbering (cropped / ROI)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715000" y="3429000"/>
            <a:ext cx="1920240" cy="1371600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715000" y="3429000"/>
            <a:ext cx="1920240" cy="109728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715000" y="3584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8338E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.dcm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715000" y="40965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File type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Features — features.csv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/home/claude/features_tabl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859536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97280" y="4526280"/>
            <a:ext cx="210312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97280" y="4526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40+  Feature Columns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749040" y="4526280"/>
            <a:ext cx="210312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3749040" y="4526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  Pathology Classes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400800" y="4526280"/>
            <a:ext cx="210312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0" y="4526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DCM  Input Format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PyRadiomics Knowledge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54864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PyRadiomics is and where it is used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54864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 features on breast DICOM images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54864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Coding parts related to radiomics extraction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78823" y="35661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 Types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4069080"/>
            <a:ext cx="1188720" cy="640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5760" y="4069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737360" y="4069080"/>
            <a:ext cx="1188720" cy="6400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737360" y="4069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Texture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108960" y="4069080"/>
            <a:ext cx="1188720" cy="6400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108960" y="4069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Intensity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4632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Achieved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46320" y="1463040"/>
            <a:ext cx="393192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37760" y="14813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✔  Extracted features for one image successfully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46320" y="2148840"/>
            <a:ext cx="393192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37760" y="21671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✔  Extracted from all images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46320" y="2857501"/>
            <a:ext cx="393192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974336" y="29097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✔  Generated features.csv with 40+ columns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143000"/>
          </a:xfrm>
          <a:prstGeom prst="rect">
            <a:avLst/>
          </a:prstGeom>
          <a:solidFill>
            <a:srgbClr val="1B3A5C"/>
          </a:solidFill>
          <a:ln/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0972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08760" y="105156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Learn About Extracted Features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508760" y="1463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ECAE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meaning and significance of each feature column in the CSV — which features are most predictive for breast cancer classification.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1143000"/>
          </a:xfrm>
          <a:prstGeom prst="rect">
            <a:avLst/>
          </a:prstGeom>
          <a:solidFill>
            <a:srgbClr val="1B3A5C"/>
          </a:solidFill>
          <a:ln/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109728" cy="11430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4360" y="233172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96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08760" y="23774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Study Column Meanings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08760" y="278892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ECAE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Deep-dive into each radiomics feature: first-order statistics, GLCM, GLRLM, shape descriptors — and what they represent clinically.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8412480" cy="1143000"/>
          </a:xfrm>
          <a:prstGeom prst="rect">
            <a:avLst/>
          </a:prstGeom>
          <a:solidFill>
            <a:srgbClr val="1B3A5C"/>
          </a:solidFill>
          <a:ln/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109728" cy="11430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365760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77B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508760" y="370332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into CNN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508760" y="411480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ECAE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Begin convolutional neural network development — using the extracted radiomics features and/or raw images to build a breast mass classification model.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1493</Words>
  <Application>Microsoft Office PowerPoint</Application>
  <PresentationFormat>On-screen Show (16:9)</PresentationFormat>
  <Paragraphs>256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CBIS-DDSM Dataset Exploration</dc:title>
  <dc:subject>PptxGenJS Presentation</dc:subject>
  <dc:creator>PptxGenJS</dc:creator>
  <cp:lastModifiedBy>shazliabdullah</cp:lastModifiedBy>
  <cp:revision>3</cp:revision>
  <dcterms:created xsi:type="dcterms:W3CDTF">2026-03-26T05:15:30Z</dcterms:created>
  <dcterms:modified xsi:type="dcterms:W3CDTF">2026-04-06T09:07:49Z</dcterms:modified>
</cp:coreProperties>
</file>